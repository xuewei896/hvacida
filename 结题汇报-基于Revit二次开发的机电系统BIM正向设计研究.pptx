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5" r:id="rId4"/>
  </p:sldMasterIdLst>
  <p:notesMasterIdLst>
    <p:notesMasterId r:id="rId6"/>
  </p:notesMasterIdLst>
  <p:sldIdLst>
    <p:sldId id="267" r:id="rId5"/>
    <p:sldId id="263" r:id="rId8"/>
    <p:sldId id="303" r:id="rId27"/>
    <p:sldId id="307" r:id="rId31"/>
    <p:sldId id="308" r:id="rId32"/>
    <p:sldId id="309" r:id="rId33"/>
    <p:sldId id="304" r:id="rId28"/>
    <p:sldId id="310" r:id="rId34"/>
    <p:sldId id="311" r:id="rId35"/>
    <p:sldId id="312" r:id="rId36"/>
    <p:sldId id="313" r:id="rId37"/>
    <p:sldId id="314" r:id="rId38"/>
    <p:sldId id="315" r:id="rId39"/>
    <p:sldId id="305" r:id="rId29"/>
    <p:sldId id="316" r:id="rId40"/>
    <p:sldId id="317" r:id="rId41"/>
    <p:sldId id="318" r:id="rId42"/>
    <p:sldId id="306" r:id="rId30"/>
    <p:sldId id="319" r:id="rId43"/>
    <p:sldId id="320" r:id="rId44"/>
    <p:sldId id="293" r:id="rId23"/>
  </p:sldIdLst>
  <p:sldSz cx="9144000" cy="5144135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AB"/>
    <a:srgbClr val="87D8ED"/>
    <a:srgbClr val="0162B3"/>
    <a:srgbClr val="D4DBEF"/>
    <a:srgbClr val="0269B4"/>
    <a:srgbClr val="0178CE"/>
    <a:srgbClr val="0271C2"/>
    <a:srgbClr val="035C9E"/>
    <a:srgbClr val="19203A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484" y="4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23" Type="http://schemas.openxmlformats.org/officeDocument/2006/relationships/slide" Target="slides/slide18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solidFill>
                  <a:srgbClr val="212A4D"/>
                </a:solidFill>
                <a:latin typeface="微软雅黑"/>
              </a:rPr>
              <a:t>各层代码规模(行)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代码行数</c:v>
                </c:pt>
              </c:strCache>
            </c:strRef>
          </c:tx>
          <c:spPr>
            <a:solidFill>
              <a:srgbClr val="3B539D"/>
            </a:solidFill>
          </c:spPr>
          <c:cat>
            <c:strRef>
              <c:f>Sheet1!$A$2:$A$5</c:f>
              <c:strCache>
                <c:ptCount val="4"/>
                <c:pt idx="0">
                  <c:v>Core</c:v>
                </c:pt>
                <c:pt idx="1">
                  <c:v>UI(含 XAML)</c:v>
                </c:pt>
                <c:pt idx="2">
                  <c:v>Revit</c:v>
                </c:pt>
                <c:pt idx="3">
                  <c:v>门禁脚本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12974</c:v>
                </c:pt>
                <c:pt idx="1">
                  <c:v>8972</c:v>
                </c:pt>
                <c:pt idx="2">
                  <c:v>3756</c:v>
                </c:pt>
                <c:pt idx="3">
                  <c:v>2212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latin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800">
                <a:latin typeface="微软雅黑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tags" Target="../tags/tag1.xml"/><Relationship Id="rId4" Type="http://schemas.openxmlformats.org/officeDocument/2006/relationships/image" Target="../media/image2.jpeg"/><Relationship Id="rId5" Type="http://schemas.openxmlformats.org/officeDocument/2006/relationships/tags" Target="../tags/tag2.xml"/><Relationship Id="rId6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tags" Target="../tags/tag3.xml"/><Relationship Id="rId4" Type="http://schemas.openxmlformats.org/officeDocument/2006/relationships/image" Target="../media/image2.jpeg"/><Relationship Id="rId5" Type="http://schemas.openxmlformats.org/officeDocument/2006/relationships/tags" Target="../tags/tag4.xml"/><Relationship Id="rId6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tags" Target="../tags/tag5.xml"/><Relationship Id="rId4" Type="http://schemas.openxmlformats.org/officeDocument/2006/relationships/image" Target="../media/image2.jpeg"/><Relationship Id="rId5" Type="http://schemas.openxmlformats.org/officeDocument/2006/relationships/tags" Target="../tags/tag6.xml"/><Relationship Id="rId6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6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4717372"/>
            <a:ext cx="9144000" cy="427293"/>
          </a:xfrm>
          <a:prstGeom prst="rect">
            <a:avLst/>
          </a:prstGeom>
          <a:solidFill>
            <a:srgbClr val="016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4717372"/>
            <a:ext cx="9144000" cy="3129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9298994" y="4993301"/>
            <a:ext cx="34289" cy="342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12700" dir="8100000" algn="tr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0" y="700722"/>
            <a:ext cx="9144000" cy="3862309"/>
            <a:chOff x="0" y="154"/>
            <a:chExt cx="19200" cy="8108"/>
          </a:xfrm>
        </p:grpSpPr>
        <p:sp>
          <p:nvSpPr>
            <p:cNvPr id="39" name="任意多边形: 形状 14"/>
            <p:cNvSpPr/>
            <p:nvPr/>
          </p:nvSpPr>
          <p:spPr>
            <a:xfrm>
              <a:off x="0" y="154"/>
              <a:ext cx="19200" cy="7858"/>
            </a:xfrm>
            <a:custGeom>
              <a:avLst/>
              <a:gdLst>
                <a:gd name="connsiteX0" fmla="*/ 1921309 w 12192001"/>
                <a:gd name="connsiteY0" fmla="*/ 0 h 5580335"/>
                <a:gd name="connsiteX1" fmla="*/ 12192001 w 12192001"/>
                <a:gd name="connsiteY1" fmla="*/ 0 h 5580335"/>
                <a:gd name="connsiteX2" fmla="*/ 12192001 w 12192001"/>
                <a:gd name="connsiteY2" fmla="*/ 379402 h 5580335"/>
                <a:gd name="connsiteX3" fmla="*/ 10401320 w 12192001"/>
                <a:gd name="connsiteY3" fmla="*/ 5580335 h 5580335"/>
                <a:gd name="connsiteX4" fmla="*/ 0 w 12192001"/>
                <a:gd name="connsiteY4" fmla="*/ 5580335 h 558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1" h="5580335">
                  <a:moveTo>
                    <a:pt x="1921309" y="0"/>
                  </a:moveTo>
                  <a:lnTo>
                    <a:pt x="12192001" y="0"/>
                  </a:lnTo>
                  <a:lnTo>
                    <a:pt x="12192001" y="379402"/>
                  </a:lnTo>
                  <a:lnTo>
                    <a:pt x="10401320" y="5580335"/>
                  </a:lnTo>
                  <a:lnTo>
                    <a:pt x="0" y="5580335"/>
                  </a:lnTo>
                  <a:close/>
                </a:path>
              </a:pathLst>
            </a:custGeom>
            <a:solidFill>
              <a:srgbClr val="016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pic>
          <p:nvPicPr>
            <p:cNvPr id="18" name="图片 17" descr="7.京沪高铁（全球第一条时速380km高速客运电气化铁路）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t="15685" b="15463"/>
            <a:stretch>
              <a:fillRect/>
            </a:stretch>
          </p:blipFill>
          <p:spPr>
            <a:xfrm>
              <a:off x="0" y="576"/>
              <a:ext cx="19200" cy="74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773"/>
              <a:ext cx="19199" cy="7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167640" y="0"/>
            <a:ext cx="425291" cy="700722"/>
          </a:xfrm>
          <a:prstGeom prst="rect">
            <a:avLst/>
          </a:prstGeom>
          <a:solidFill>
            <a:srgbClr val="006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pic>
        <p:nvPicPr>
          <p:cNvPr id="26" name="图片 25" descr="logo-中文_0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496776" y="21912"/>
            <a:ext cx="646748" cy="646894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14300" y="4758690"/>
            <a:ext cx="2449830" cy="25273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050" b="1">
                <a:solidFill>
                  <a:schemeClr val="bg1"/>
                </a:solidFill>
                <a:latin typeface="Impact" panose="020B0806030902050204" pitchFamily="34" charset="0"/>
                <a:sym typeface="+mn-ea"/>
              </a:rPr>
              <a:t>中铁六院集团公司电气化设计院分公司</a:t>
            </a:r>
            <a:endParaRPr lang="zh-CN" altLang="en-US" sz="1050" b="1">
              <a:solidFill>
                <a:schemeClr val="bg1"/>
              </a:solidFill>
              <a:latin typeface="Impact" panose="020B0806030902050204" pitchFamily="34" charset="0"/>
              <a:sym typeface="+mn-ea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2559050" y="4777740"/>
            <a:ext cx="5034280" cy="21399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ELECTRIFICATION DESIGN INSTITUTE BRANCH OF CHINA RAILWAY LIUYUAN GROUP CO.,LTD.</a:t>
            </a:r>
            <a:endParaRPr lang="en-US" altLang="zh-CN" sz="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4717372"/>
            <a:ext cx="9144000" cy="427293"/>
          </a:xfrm>
          <a:prstGeom prst="rect">
            <a:avLst/>
          </a:prstGeom>
          <a:solidFill>
            <a:srgbClr val="016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0" y="4717372"/>
            <a:ext cx="9144000" cy="3129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 userDrawn="1"/>
        </p:nvSpPr>
        <p:spPr>
          <a:xfrm>
            <a:off x="9298994" y="4993301"/>
            <a:ext cx="34289" cy="342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12700" dir="8100000" algn="tr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pic>
        <p:nvPicPr>
          <p:cNvPr id="45" name="图片 44" descr="3.重庆轻轨较新线（去字）"/>
          <p:cNvPicPr/>
          <p:nvPr userDrawn="1"/>
        </p:nvPicPr>
        <p:blipFill>
          <a:blip r:embed="rId3"/>
          <a:srcRect r="9478" b="8165"/>
          <a:stretch>
            <a:fillRect/>
          </a:stretch>
        </p:blipFill>
        <p:spPr>
          <a:xfrm>
            <a:off x="0" y="0"/>
            <a:ext cx="7214711" cy="4714990"/>
          </a:xfrm>
          <a:prstGeom prst="rect">
            <a:avLst/>
          </a:prstGeom>
          <a:ln>
            <a:noFill/>
          </a:ln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7214870" cy="4714875"/>
          </a:xfrm>
          <a:prstGeom prst="rect">
            <a:avLst/>
          </a:prstGeom>
          <a:solidFill>
            <a:schemeClr val="tx1">
              <a:lumMod val="75000"/>
              <a:lumOff val="25000"/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 userDrawn="1"/>
        </p:nvSpPr>
        <p:spPr>
          <a:xfrm>
            <a:off x="114300" y="4758690"/>
            <a:ext cx="2449830" cy="25273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050" b="1">
                <a:solidFill>
                  <a:schemeClr val="bg1"/>
                </a:solidFill>
                <a:latin typeface="Impact" panose="020B0806030902050204" pitchFamily="34" charset="0"/>
                <a:sym typeface="+mn-ea"/>
              </a:rPr>
              <a:t>中铁六院集团公司电气化设计院分公司</a:t>
            </a:r>
            <a:endParaRPr lang="zh-CN" altLang="en-US" sz="1050" b="1">
              <a:solidFill>
                <a:schemeClr val="bg1"/>
              </a:solidFill>
              <a:latin typeface="Impact" panose="020B0806030902050204" pitchFamily="34" charset="0"/>
              <a:sym typeface="+mn-ea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559050" y="4777740"/>
            <a:ext cx="5034280" cy="21399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ELECTRIFICATION DESIGN INSTITUTE BRANCH OF CHINA RAILWAY LIUYUAN GROUP CO.,LTD.</a:t>
            </a:r>
            <a:endParaRPr lang="en-US" altLang="zh-CN" sz="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4717372"/>
            <a:ext cx="9144000" cy="427293"/>
          </a:xfrm>
          <a:prstGeom prst="rect">
            <a:avLst/>
          </a:prstGeom>
          <a:solidFill>
            <a:srgbClr val="016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4717372"/>
            <a:ext cx="9144000" cy="3129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9298994" y="4993301"/>
            <a:ext cx="34289" cy="342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12700" dir="8100000" algn="tr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0" y="700722"/>
            <a:ext cx="9144000" cy="3862309"/>
            <a:chOff x="0" y="154"/>
            <a:chExt cx="19200" cy="8108"/>
          </a:xfrm>
        </p:grpSpPr>
        <p:sp>
          <p:nvSpPr>
            <p:cNvPr id="39" name="任意多边形: 形状 14"/>
            <p:cNvSpPr/>
            <p:nvPr/>
          </p:nvSpPr>
          <p:spPr>
            <a:xfrm>
              <a:off x="0" y="154"/>
              <a:ext cx="19200" cy="7858"/>
            </a:xfrm>
            <a:custGeom>
              <a:avLst/>
              <a:gdLst>
                <a:gd name="connsiteX0" fmla="*/ 1921309 w 12192001"/>
                <a:gd name="connsiteY0" fmla="*/ 0 h 5580335"/>
                <a:gd name="connsiteX1" fmla="*/ 12192001 w 12192001"/>
                <a:gd name="connsiteY1" fmla="*/ 0 h 5580335"/>
                <a:gd name="connsiteX2" fmla="*/ 12192001 w 12192001"/>
                <a:gd name="connsiteY2" fmla="*/ 379402 h 5580335"/>
                <a:gd name="connsiteX3" fmla="*/ 10401320 w 12192001"/>
                <a:gd name="connsiteY3" fmla="*/ 5580335 h 5580335"/>
                <a:gd name="connsiteX4" fmla="*/ 0 w 12192001"/>
                <a:gd name="connsiteY4" fmla="*/ 5580335 h 558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1" h="5580335">
                  <a:moveTo>
                    <a:pt x="1921309" y="0"/>
                  </a:moveTo>
                  <a:lnTo>
                    <a:pt x="12192001" y="0"/>
                  </a:lnTo>
                  <a:lnTo>
                    <a:pt x="12192001" y="379402"/>
                  </a:lnTo>
                  <a:lnTo>
                    <a:pt x="10401320" y="5580335"/>
                  </a:lnTo>
                  <a:lnTo>
                    <a:pt x="0" y="5580335"/>
                  </a:lnTo>
                  <a:close/>
                </a:path>
              </a:pathLst>
            </a:custGeom>
            <a:solidFill>
              <a:srgbClr val="016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pic>
          <p:nvPicPr>
            <p:cNvPr id="18" name="图片 17" descr="7.京沪高铁（全球第一条时速380km高速客运电气化铁路）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t="15685" b="15463"/>
            <a:stretch>
              <a:fillRect/>
            </a:stretch>
          </p:blipFill>
          <p:spPr>
            <a:xfrm>
              <a:off x="0" y="576"/>
              <a:ext cx="19200" cy="74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773"/>
              <a:ext cx="19199" cy="7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167640" y="0"/>
            <a:ext cx="425291" cy="700722"/>
          </a:xfrm>
          <a:prstGeom prst="rect">
            <a:avLst/>
          </a:prstGeom>
          <a:solidFill>
            <a:srgbClr val="006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pic>
        <p:nvPicPr>
          <p:cNvPr id="26" name="图片 25" descr="logo-中文_0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496776" y="21912"/>
            <a:ext cx="646748" cy="646894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114300" y="4758690"/>
            <a:ext cx="2449830" cy="25273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050" b="1">
                <a:solidFill>
                  <a:schemeClr val="bg1"/>
                </a:solidFill>
                <a:latin typeface="Impact" panose="020B0806030902050204" pitchFamily="34" charset="0"/>
                <a:sym typeface="+mn-ea"/>
              </a:rPr>
              <a:t>中铁六院集团公司电气化设计院分公司</a:t>
            </a:r>
            <a:endParaRPr lang="zh-CN" altLang="en-US" sz="1050" b="1">
              <a:solidFill>
                <a:schemeClr val="bg1"/>
              </a:solidFill>
              <a:latin typeface="Impact" panose="020B0806030902050204" pitchFamily="34" charset="0"/>
              <a:sym typeface="+mn-ea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559050" y="4777740"/>
            <a:ext cx="5034280" cy="21399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ELECTRIFICATION DESIGN INSTITUTE BRANCH OF CHINA RAILWAY LIUYUAN GROUP CO.,LTD.</a:t>
            </a:r>
            <a:endParaRPr lang="en-US" altLang="zh-CN" sz="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9144635" cy="474281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grpSp>
        <p:nvGrpSpPr>
          <p:cNvPr id="46" name="组合 45"/>
          <p:cNvGrpSpPr/>
          <p:nvPr userDrawn="1"/>
        </p:nvGrpSpPr>
        <p:grpSpPr>
          <a:xfrm>
            <a:off x="-8255" y="2360427"/>
            <a:ext cx="2858770" cy="2783840"/>
            <a:chOff x="-10549" y="3165604"/>
            <a:chExt cx="3811767" cy="4051507"/>
          </a:xfrm>
        </p:grpSpPr>
        <p:sp>
          <p:nvSpPr>
            <p:cNvPr id="2" name="等腰三角形 1"/>
            <p:cNvSpPr/>
            <p:nvPr/>
          </p:nvSpPr>
          <p:spPr>
            <a:xfrm rot="5400000">
              <a:off x="-61373" y="6530994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等腰三角形 47"/>
            <p:cNvSpPr/>
            <p:nvPr/>
          </p:nvSpPr>
          <p:spPr>
            <a:xfrm rot="5400000">
              <a:off x="1209216" y="6530994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9" name="等腰三角形 48"/>
            <p:cNvSpPr/>
            <p:nvPr/>
          </p:nvSpPr>
          <p:spPr>
            <a:xfrm rot="16200000">
              <a:off x="573922" y="6530994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等腰三角形 49"/>
            <p:cNvSpPr/>
            <p:nvPr/>
          </p:nvSpPr>
          <p:spPr>
            <a:xfrm rot="5400000">
              <a:off x="2479805" y="6530994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1" name="等腰三角形 50"/>
            <p:cNvSpPr/>
            <p:nvPr/>
          </p:nvSpPr>
          <p:spPr>
            <a:xfrm rot="16200000">
              <a:off x="1844511" y="6530994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2" name="等腰三角形 51"/>
            <p:cNvSpPr/>
            <p:nvPr/>
          </p:nvSpPr>
          <p:spPr>
            <a:xfrm rot="5400000">
              <a:off x="573922" y="6164196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3" name="等腰三角形 52"/>
            <p:cNvSpPr/>
            <p:nvPr/>
          </p:nvSpPr>
          <p:spPr>
            <a:xfrm rot="16200000">
              <a:off x="-61372" y="6164196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4" name="等腰三角形 53"/>
            <p:cNvSpPr/>
            <p:nvPr/>
          </p:nvSpPr>
          <p:spPr>
            <a:xfrm rot="5400000">
              <a:off x="1844511" y="6164196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等腰三角形 54"/>
            <p:cNvSpPr/>
            <p:nvPr/>
          </p:nvSpPr>
          <p:spPr>
            <a:xfrm rot="16200000">
              <a:off x="1209217" y="6164196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等腰三角形 55"/>
            <p:cNvSpPr/>
            <p:nvPr/>
          </p:nvSpPr>
          <p:spPr>
            <a:xfrm rot="5400000">
              <a:off x="3115100" y="6164196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7" name="等腰三角形 56"/>
            <p:cNvSpPr/>
            <p:nvPr/>
          </p:nvSpPr>
          <p:spPr>
            <a:xfrm rot="5400000">
              <a:off x="-61373" y="5794052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等腰三角形 57"/>
            <p:cNvSpPr/>
            <p:nvPr/>
          </p:nvSpPr>
          <p:spPr>
            <a:xfrm rot="5400000">
              <a:off x="1209216" y="5794052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9" name="等腰三角形 58"/>
            <p:cNvSpPr/>
            <p:nvPr/>
          </p:nvSpPr>
          <p:spPr>
            <a:xfrm rot="16200000">
              <a:off x="573922" y="5794052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等腰三角形 59"/>
            <p:cNvSpPr/>
            <p:nvPr/>
          </p:nvSpPr>
          <p:spPr>
            <a:xfrm rot="5400000">
              <a:off x="2479805" y="5794052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等腰三角形 60"/>
            <p:cNvSpPr/>
            <p:nvPr/>
          </p:nvSpPr>
          <p:spPr>
            <a:xfrm rot="16200000">
              <a:off x="1844511" y="5794052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2" name="等腰三角形 61"/>
            <p:cNvSpPr/>
            <p:nvPr/>
          </p:nvSpPr>
          <p:spPr>
            <a:xfrm rot="5400000">
              <a:off x="573922" y="5427254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等腰三角形 62"/>
            <p:cNvSpPr/>
            <p:nvPr/>
          </p:nvSpPr>
          <p:spPr>
            <a:xfrm rot="16200000">
              <a:off x="-61372" y="5427254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等腰三角形 63"/>
            <p:cNvSpPr/>
            <p:nvPr/>
          </p:nvSpPr>
          <p:spPr>
            <a:xfrm rot="16200000">
              <a:off x="1209217" y="5427254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等腰三角形 64"/>
            <p:cNvSpPr/>
            <p:nvPr/>
          </p:nvSpPr>
          <p:spPr>
            <a:xfrm rot="5400000">
              <a:off x="-61373" y="5057110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等腰三角形 65"/>
            <p:cNvSpPr/>
            <p:nvPr/>
          </p:nvSpPr>
          <p:spPr>
            <a:xfrm rot="5400000">
              <a:off x="1209216" y="5057110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等腰三角形 66"/>
            <p:cNvSpPr/>
            <p:nvPr/>
          </p:nvSpPr>
          <p:spPr>
            <a:xfrm rot="16200000">
              <a:off x="573922" y="5057110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等腰三角形 67"/>
            <p:cNvSpPr/>
            <p:nvPr/>
          </p:nvSpPr>
          <p:spPr>
            <a:xfrm rot="5400000">
              <a:off x="573922" y="4690312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9" name="等腰三角形 68"/>
            <p:cNvSpPr/>
            <p:nvPr/>
          </p:nvSpPr>
          <p:spPr>
            <a:xfrm rot="16200000">
              <a:off x="-61372" y="4690312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0" name="等腰三角形 69"/>
            <p:cNvSpPr/>
            <p:nvPr/>
          </p:nvSpPr>
          <p:spPr>
            <a:xfrm rot="16200000">
              <a:off x="1209217" y="4690312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1" name="等腰三角形 70"/>
            <p:cNvSpPr/>
            <p:nvPr/>
          </p:nvSpPr>
          <p:spPr>
            <a:xfrm rot="5400000">
              <a:off x="-61373" y="4320168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2" name="等腰三角形 71"/>
            <p:cNvSpPr/>
            <p:nvPr/>
          </p:nvSpPr>
          <p:spPr>
            <a:xfrm rot="16200000">
              <a:off x="573922" y="4320168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等腰三角形 72"/>
            <p:cNvSpPr/>
            <p:nvPr/>
          </p:nvSpPr>
          <p:spPr>
            <a:xfrm rot="16200000">
              <a:off x="-61372" y="3953370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等腰三角形 73"/>
            <p:cNvSpPr/>
            <p:nvPr/>
          </p:nvSpPr>
          <p:spPr>
            <a:xfrm rot="5400000">
              <a:off x="-61373" y="3583226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等腰三角形 74"/>
            <p:cNvSpPr/>
            <p:nvPr/>
          </p:nvSpPr>
          <p:spPr>
            <a:xfrm rot="16200000">
              <a:off x="-61372" y="3216428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5" name="图片 4" descr="C:\Users\sunny\Desktop\微信图片_20210629161845.jpg微信图片_2021062916184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635"/>
            <a:ext cx="9144635" cy="5163185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4717372"/>
            <a:ext cx="9144000" cy="427293"/>
          </a:xfrm>
          <a:prstGeom prst="rect">
            <a:avLst/>
          </a:prstGeom>
          <a:solidFill>
            <a:srgbClr val="016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4717372"/>
            <a:ext cx="9144000" cy="3129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9298994" y="4993301"/>
            <a:ext cx="34289" cy="34297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noFill/>
          </a:ln>
          <a:effectLst>
            <a:outerShdw blurRad="50800" dist="12700" dir="8100000" algn="tr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114300" y="4758690"/>
            <a:ext cx="7479030" cy="252730"/>
            <a:chOff x="180" y="7494"/>
            <a:chExt cx="11778" cy="398"/>
          </a:xfrm>
        </p:grpSpPr>
        <p:sp>
          <p:nvSpPr>
            <p:cNvPr id="12" name="矩形 11"/>
            <p:cNvSpPr/>
            <p:nvPr userDrawn="1"/>
          </p:nvSpPr>
          <p:spPr>
            <a:xfrm>
              <a:off x="180" y="7494"/>
              <a:ext cx="3858" cy="398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zh-CN" altLang="en-US" sz="1050" b="1">
                  <a:solidFill>
                    <a:schemeClr val="bg1"/>
                  </a:solidFill>
                  <a:latin typeface="Impact" panose="020B0806030902050204" pitchFamily="34" charset="0"/>
                  <a:sym typeface="+mn-ea"/>
                </a:rPr>
                <a:t>中铁六院集团公司电气化设计院分公司</a:t>
              </a:r>
              <a:endParaRPr lang="zh-CN" altLang="en-US" sz="1050" b="1">
                <a:solidFill>
                  <a:schemeClr val="bg1"/>
                </a:solidFill>
                <a:latin typeface="Impact" panose="020B0806030902050204" pitchFamily="34" charset="0"/>
                <a:sym typeface="+mn-ea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4030" y="7524"/>
              <a:ext cx="7928" cy="337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algn="l"/>
              <a:r>
                <a:rPr lang="en-US" altLang="zh-CN" sz="8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ELECTRIFICATION DESIGN INSTITUTE BRANCH OF CHINA RAILWAY LIUYUAN GROUP CO.,LTD.</a:t>
              </a:r>
              <a:endParaRPr lang="en-US" altLang="zh-CN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8096"/>
            <a:ext cx="2057400" cy="273892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4717372"/>
            <a:ext cx="9144000" cy="427293"/>
          </a:xfrm>
          <a:prstGeom prst="rect">
            <a:avLst/>
          </a:prstGeom>
          <a:solidFill>
            <a:srgbClr val="016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0" y="4717372"/>
            <a:ext cx="9144000" cy="3129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9298994" y="4993301"/>
            <a:ext cx="34289" cy="342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12700" dir="8100000" algn="tr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 userDrawn="1"/>
        </p:nvGrpSpPr>
        <p:grpSpPr>
          <a:xfrm>
            <a:off x="0" y="700722"/>
            <a:ext cx="9144000" cy="3862310"/>
            <a:chOff x="0" y="154"/>
            <a:chExt cx="19200" cy="8108"/>
          </a:xfrm>
        </p:grpSpPr>
        <p:sp>
          <p:nvSpPr>
            <p:cNvPr id="39" name="任意多边形: 形状 14"/>
            <p:cNvSpPr/>
            <p:nvPr/>
          </p:nvSpPr>
          <p:spPr>
            <a:xfrm>
              <a:off x="0" y="154"/>
              <a:ext cx="19200" cy="7858"/>
            </a:xfrm>
            <a:custGeom>
              <a:avLst/>
              <a:gdLst>
                <a:gd name="connsiteX0" fmla="*/ 1921309 w 12192001"/>
                <a:gd name="connsiteY0" fmla="*/ 0 h 5580335"/>
                <a:gd name="connsiteX1" fmla="*/ 12192001 w 12192001"/>
                <a:gd name="connsiteY1" fmla="*/ 0 h 5580335"/>
                <a:gd name="connsiteX2" fmla="*/ 12192001 w 12192001"/>
                <a:gd name="connsiteY2" fmla="*/ 379402 h 5580335"/>
                <a:gd name="connsiteX3" fmla="*/ 10401320 w 12192001"/>
                <a:gd name="connsiteY3" fmla="*/ 5580335 h 5580335"/>
                <a:gd name="connsiteX4" fmla="*/ 0 w 12192001"/>
                <a:gd name="connsiteY4" fmla="*/ 5580335 h 558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1" h="5580335">
                  <a:moveTo>
                    <a:pt x="1921309" y="0"/>
                  </a:moveTo>
                  <a:lnTo>
                    <a:pt x="12192001" y="0"/>
                  </a:lnTo>
                  <a:lnTo>
                    <a:pt x="12192001" y="379402"/>
                  </a:lnTo>
                  <a:lnTo>
                    <a:pt x="10401320" y="5580335"/>
                  </a:lnTo>
                  <a:lnTo>
                    <a:pt x="0" y="5580335"/>
                  </a:lnTo>
                  <a:close/>
                </a:path>
              </a:pathLst>
            </a:custGeom>
            <a:solidFill>
              <a:srgbClr val="0162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  <p:pic>
          <p:nvPicPr>
            <p:cNvPr id="18" name="图片 17" descr="7.京沪高铁（全球第一条时速380km高速客运电气化铁路）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t="15685" b="15463"/>
            <a:stretch>
              <a:fillRect/>
            </a:stretch>
          </p:blipFill>
          <p:spPr>
            <a:xfrm>
              <a:off x="0" y="576"/>
              <a:ext cx="19200" cy="7436"/>
            </a:xfrm>
            <a:prstGeom prst="rect">
              <a:avLst/>
            </a:prstGeom>
          </p:spPr>
        </p:pic>
        <p:sp>
          <p:nvSpPr>
            <p:cNvPr id="21" name="矩形 20"/>
            <p:cNvSpPr/>
            <p:nvPr/>
          </p:nvSpPr>
          <p:spPr>
            <a:xfrm>
              <a:off x="0" y="773"/>
              <a:ext cx="19199" cy="74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167640" y="0"/>
            <a:ext cx="425291" cy="700722"/>
          </a:xfrm>
          <a:prstGeom prst="rect">
            <a:avLst/>
          </a:prstGeom>
          <a:solidFill>
            <a:srgbClr val="006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pic>
        <p:nvPicPr>
          <p:cNvPr id="26" name="图片 25" descr="logo-中文_0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496776" y="21912"/>
            <a:ext cx="646748" cy="646894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114300" y="4758690"/>
            <a:ext cx="2449830" cy="25273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050" b="1">
                <a:solidFill>
                  <a:schemeClr val="bg1"/>
                </a:solidFill>
                <a:latin typeface="Impact" panose="020B0806030902050204" pitchFamily="34" charset="0"/>
                <a:sym typeface="+mn-ea"/>
              </a:rPr>
              <a:t>中铁六院集团公司电气化设计院分公司</a:t>
            </a:r>
            <a:endParaRPr lang="zh-CN" altLang="en-US" sz="1050" b="1">
              <a:solidFill>
                <a:schemeClr val="bg1"/>
              </a:solidFill>
              <a:latin typeface="Impact" panose="020B0806030902050204" pitchFamily="34" charset="0"/>
              <a:sym typeface="+mn-ea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559050" y="4777740"/>
            <a:ext cx="5034280" cy="21399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ELECTRIFICATION DESIGN INSTITUTE BRANCH OF CHINA RAILWAY LIUYUAN GROUP CO.,LTD.</a:t>
            </a:r>
            <a:endParaRPr lang="en-US" altLang="zh-CN" sz="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4717372"/>
            <a:ext cx="9144000" cy="427293"/>
          </a:xfrm>
          <a:prstGeom prst="rect">
            <a:avLst/>
          </a:prstGeom>
          <a:solidFill>
            <a:srgbClr val="016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0" y="4717372"/>
            <a:ext cx="9144000" cy="3129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 userDrawn="1"/>
        </p:nvSpPr>
        <p:spPr>
          <a:xfrm>
            <a:off x="9298994" y="4993301"/>
            <a:ext cx="34289" cy="342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12700" dir="8100000" algn="tr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pic>
        <p:nvPicPr>
          <p:cNvPr id="29" name="图片 28" descr="C:\Users\sunny\Desktop\摄图网_300031345_工作中的金融商人剪影（非企业商用）.jpg摄图网_300031345_工作中的金融商人剪影（非企业商用）"/>
          <p:cNvPicPr>
            <a:picLocks noChangeAspect="1"/>
          </p:cNvPicPr>
          <p:nvPr userDrawn="1"/>
        </p:nvPicPr>
        <p:blipFill>
          <a:blip r:embed="rId3">
            <a:lum bright="-6000" contrast="-6000"/>
          </a:blip>
          <a:srcRect/>
          <a:stretch>
            <a:fillRect/>
          </a:stretch>
        </p:blipFill>
        <p:spPr>
          <a:xfrm>
            <a:off x="0" y="0"/>
            <a:ext cx="9143365" cy="4733925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114300" y="4758690"/>
            <a:ext cx="2449830" cy="25273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050" b="1">
                <a:solidFill>
                  <a:schemeClr val="bg1"/>
                </a:solidFill>
                <a:latin typeface="Impact" panose="020B0806030902050204" pitchFamily="34" charset="0"/>
                <a:sym typeface="+mn-ea"/>
              </a:rPr>
              <a:t>中铁六院集团公司电气化设计院分公司</a:t>
            </a:r>
            <a:endParaRPr lang="zh-CN" altLang="en-US" sz="1050" b="1">
              <a:solidFill>
                <a:schemeClr val="bg1"/>
              </a:solidFill>
              <a:latin typeface="Impact" panose="020B0806030902050204" pitchFamily="34" charset="0"/>
              <a:sym typeface="+mn-ea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559050" y="4777740"/>
            <a:ext cx="5034280" cy="21399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ELECTRIFICATION DESIGN INSTITUTE BRANCH OF CHINA RAILWAY LIUYUAN GROUP CO.,LTD.</a:t>
            </a:r>
            <a:endParaRPr lang="en-US" altLang="zh-CN" sz="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8096"/>
            <a:ext cx="2057400" cy="273892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4717372"/>
            <a:ext cx="9144000" cy="427293"/>
          </a:xfrm>
          <a:prstGeom prst="rect">
            <a:avLst/>
          </a:prstGeom>
          <a:solidFill>
            <a:srgbClr val="016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0" y="4717372"/>
            <a:ext cx="9144000" cy="3129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 userDrawn="1"/>
        </p:nvSpPr>
        <p:spPr>
          <a:xfrm>
            <a:off x="9298994" y="4993301"/>
            <a:ext cx="34289" cy="342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12700" dir="8100000" algn="tr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14300" y="4758690"/>
            <a:ext cx="2449830" cy="25273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050" b="1">
                <a:solidFill>
                  <a:schemeClr val="bg1"/>
                </a:solidFill>
                <a:latin typeface="Impact" panose="020B0806030902050204" pitchFamily="34" charset="0"/>
                <a:sym typeface="+mn-ea"/>
              </a:rPr>
              <a:t>中铁六院集团公司电气化设计院分公司</a:t>
            </a:r>
            <a:endParaRPr lang="zh-CN" altLang="en-US" sz="1050" b="1">
              <a:solidFill>
                <a:schemeClr val="bg1"/>
              </a:solidFill>
              <a:latin typeface="Impact" panose="020B0806030902050204" pitchFamily="34" charset="0"/>
              <a:sym typeface="+mn-ea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559050" y="4777740"/>
            <a:ext cx="5034280" cy="21399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ELECTRIFICATION DESIGN INSTITUTE BRANCH OF CHINA RAILWAY LIUYUAN GROUP CO.,LTD.</a:t>
            </a:r>
            <a:endParaRPr lang="en-US" altLang="zh-CN" sz="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 userDrawn="1"/>
        </p:nvSpPr>
        <p:spPr>
          <a:xfrm>
            <a:off x="0" y="4717372"/>
            <a:ext cx="9144000" cy="427293"/>
          </a:xfrm>
          <a:prstGeom prst="rect">
            <a:avLst/>
          </a:prstGeom>
          <a:solidFill>
            <a:srgbClr val="016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0" y="4717372"/>
            <a:ext cx="9144000" cy="31296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36" name="椭圆 35"/>
          <p:cNvSpPr/>
          <p:nvPr userDrawn="1"/>
        </p:nvSpPr>
        <p:spPr>
          <a:xfrm>
            <a:off x="9298994" y="4993301"/>
            <a:ext cx="34289" cy="34297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  <a:effectLst>
            <a:outerShdw blurRad="50800" dist="12700" dir="8100000" algn="tr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14300" y="4758690"/>
            <a:ext cx="2449830" cy="252730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050" b="1">
                <a:solidFill>
                  <a:schemeClr val="bg1"/>
                </a:solidFill>
                <a:latin typeface="Impact" panose="020B0806030902050204" pitchFamily="34" charset="0"/>
                <a:sym typeface="+mn-ea"/>
              </a:rPr>
              <a:t>中铁六院集团公司电气化设计院分公司</a:t>
            </a:r>
            <a:endParaRPr lang="zh-CN" altLang="en-US" sz="1050" b="1">
              <a:solidFill>
                <a:schemeClr val="bg1"/>
              </a:solidFill>
              <a:latin typeface="Impact" panose="020B0806030902050204" pitchFamily="34" charset="0"/>
              <a:sym typeface="+mn-ea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2559050" y="4777740"/>
            <a:ext cx="5034280" cy="21399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en-US" altLang="zh-CN" sz="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ELECTRIFICATION DESIGN INSTITUTE BRANCH OF CHINA RAILWAY LIUYUAN GROUP CO.,LTD.</a:t>
            </a:r>
            <a:endParaRPr lang="en-US" altLang="zh-CN" sz="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620" y="6985"/>
            <a:ext cx="9113520" cy="4702810"/>
          </a:xfrm>
          <a:prstGeom prst="rect">
            <a:avLst/>
          </a:prstGeom>
          <a:solidFill>
            <a:schemeClr val="accent6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logo-中文_白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7018"/>
            <a:ext cx="1364615" cy="1364615"/>
          </a:xfrm>
          <a:prstGeom prst="rect">
            <a:avLst/>
          </a:prstGeom>
        </p:spPr>
      </p:pic>
      <p:sp>
        <p:nvSpPr>
          <p:cNvPr id="5" name="图文框 4"/>
          <p:cNvSpPr/>
          <p:nvPr/>
        </p:nvSpPr>
        <p:spPr>
          <a:xfrm>
            <a:off x="2693035" y="1044575"/>
            <a:ext cx="3759200" cy="2115820"/>
          </a:xfrm>
          <a:prstGeom prst="frame">
            <a:avLst>
              <a:gd name="adj1" fmla="val 1511"/>
            </a:avLst>
          </a:prstGeom>
          <a:solidFill>
            <a:schemeClr val="bg1">
              <a:alpha val="54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 rot="0">
            <a:off x="1783715" y="1704975"/>
            <a:ext cx="5577205" cy="970915"/>
            <a:chOff x="1609" y="3749"/>
            <a:chExt cx="11183" cy="1616"/>
          </a:xfrm>
        </p:grpSpPr>
        <p:sp>
          <p:nvSpPr>
            <p:cNvPr id="16" name="矩形 259"/>
            <p:cNvSpPr>
              <a:spLocks noChangeArrowheads="1"/>
            </p:cNvSpPr>
            <p:nvPr/>
          </p:nvSpPr>
          <p:spPr bwMode="auto">
            <a:xfrm>
              <a:off x="1609" y="3749"/>
              <a:ext cx="11183" cy="1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913765">
                <a:lnSpc>
                  <a:spcPct val="115000"/>
                </a:lnSpc>
                <a:spcBef>
                  <a:spcPct val="20000"/>
                </a:spcBef>
                <a:tabLst>
                  <a:tab pos="179070" algn="l"/>
                </a:tabLst>
              </a:pPr>
              <a:r>
                <a:rPr sz="3000" b="1">
                  <a:solidFill>
                    <a:srgbClr val="FFFFFF"/>
                  </a:solidFill>
                  <a:latin typeface="微软雅黑"/>
                </a:rPr>
                <a:t>基于 Revit 二次开发的</a:t>
              </a:r>
              <a:endParaRPr lang="zh-CN" altLang="en-US" sz="4800" b="1" cap="all" dirty="0" smtClean="0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  <a:p>
              <a:pPr algn="l">
                <a:lnSpc>
                  <a:spcPct val="115000"/>
                </a:lnSpc>
              </a:pPr>
              <a:r>
                <a:rPr sz="3000" b="1">
                  <a:solidFill>
                    <a:srgbClr val="FFFFFF"/>
                  </a:solidFill>
                  <a:latin typeface="微软雅黑"/>
                </a:rPr>
                <a:t>机电系统 BIM 正向设计研究</a:t>
              </a:r>
            </a:p>
          </p:txBody>
        </p:sp>
      </p:grpSp>
      <p:sp>
        <p:nvSpPr>
          <p:cNvPr id="7" name="矩形 6"/>
          <p:cNvSpPr/>
          <p:nvPr/>
        </p:nvSpPr>
        <p:spPr>
          <a:xfrm>
            <a:off x="-15240" y="3376930"/>
            <a:ext cx="9166225" cy="1231900"/>
          </a:xfrm>
          <a:prstGeom prst="rect">
            <a:avLst/>
          </a:prstGeom>
          <a:solidFill>
            <a:schemeClr val="accent2">
              <a:lumMod val="75000"/>
              <a:alpha val="5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3112770" y="3961130"/>
            <a:ext cx="2103120" cy="3308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汇报人: 韩学伟</a:t>
            </a:r>
            <a:endParaRPr kumimoji="1" lang="zh-CN" altLang="en-US" sz="12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439795" y="3437255"/>
            <a:ext cx="2264410" cy="396240"/>
            <a:chOff x="5417" y="6215"/>
            <a:chExt cx="3566" cy="624"/>
          </a:xfrm>
        </p:grpSpPr>
        <p:sp>
          <p:nvSpPr>
            <p:cNvPr id="26" name="文本框 25"/>
            <p:cNvSpPr txBox="1"/>
            <p:nvPr/>
          </p:nvSpPr>
          <p:spPr>
            <a:xfrm>
              <a:off x="5599" y="6346"/>
              <a:ext cx="3203" cy="4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 defTabSz="913765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sz="1065" b="1">
                  <a:solidFill>
                    <a:srgbClr val="FFFFFF"/>
                  </a:solidFill>
                  <a:latin typeface="微软雅黑"/>
                </a:rPr>
                <a:t>结题汇报</a:t>
              </a:r>
              <a:endParaRPr lang="en-US" altLang="zh-CN" sz="1065" b="1" spc="8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5417" y="6215"/>
              <a:ext cx="3566" cy="624"/>
            </a:xfrm>
            <a:prstGeom prst="roundRect">
              <a:avLst>
                <a:gd name="adj" fmla="val 50000"/>
              </a:avLst>
            </a:prstGeom>
            <a:noFill/>
            <a:ln w="635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algn="ctr" defTabSz="913765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400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3112770" y="4291965"/>
            <a:ext cx="2103120" cy="3308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联系方式: 机电设备所</a:t>
            </a:r>
            <a:endParaRPr kumimoji="1" lang="zh-CN" altLang="en-US" sz="12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21935" y="3961130"/>
            <a:ext cx="1554480" cy="3308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日期: 2026.10</a:t>
            </a:r>
            <a:endParaRPr kumimoji="1" lang="zh-CN" sz="1200" b="1" dirty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697480" y="2907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DCE7F5"/>
                </a:solidFill>
                <a:latin typeface="微软雅黑"/>
              </a:rPr>
              <a:t>BIM FORWARD DESIGN FOR MEP BASED ON REVIT API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>
                <a:lumMod val="0"/>
                <a:lumOff val="100000"/>
                <a:alpha val="46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任意多边形 125"/>
          <p:cNvSpPr/>
          <p:nvPr/>
        </p:nvSpPr>
        <p:spPr>
          <a:xfrm>
            <a:off x="69056" y="582"/>
            <a:ext cx="3985260" cy="4727734"/>
          </a:xfrm>
          <a:custGeom>
            <a:avLst/>
            <a:gdLst>
              <a:gd name="connsiteX0" fmla="*/ 0 w 4886325"/>
              <a:gd name="connsiteY0" fmla="*/ 0 h 5172075"/>
              <a:gd name="connsiteX1" fmla="*/ 0 w 4886325"/>
              <a:gd name="connsiteY1" fmla="*/ 5172075 h 5172075"/>
              <a:gd name="connsiteX2" fmla="*/ 4886325 w 4886325"/>
              <a:gd name="connsiteY2" fmla="*/ 5172075 h 5172075"/>
              <a:gd name="connsiteX3" fmla="*/ 2676525 w 4886325"/>
              <a:gd name="connsiteY3" fmla="*/ 0 h 5172075"/>
              <a:gd name="connsiteX4" fmla="*/ 0 w 4886325"/>
              <a:gd name="connsiteY4" fmla="*/ 0 h 517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6325" h="5172075">
                <a:moveTo>
                  <a:pt x="0" y="0"/>
                </a:moveTo>
                <a:lnTo>
                  <a:pt x="0" y="5172075"/>
                </a:lnTo>
                <a:lnTo>
                  <a:pt x="4886325" y="5172075"/>
                </a:lnTo>
                <a:lnTo>
                  <a:pt x="2676525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7" name="任意多边形 126"/>
          <p:cNvSpPr/>
          <p:nvPr/>
        </p:nvSpPr>
        <p:spPr>
          <a:xfrm>
            <a:off x="0" y="582"/>
            <a:ext cx="3985260" cy="4727734"/>
          </a:xfrm>
          <a:custGeom>
            <a:avLst/>
            <a:gdLst>
              <a:gd name="connsiteX0" fmla="*/ 0 w 4886325"/>
              <a:gd name="connsiteY0" fmla="*/ 0 h 5172075"/>
              <a:gd name="connsiteX1" fmla="*/ 0 w 4886325"/>
              <a:gd name="connsiteY1" fmla="*/ 5172075 h 5172075"/>
              <a:gd name="connsiteX2" fmla="*/ 4886325 w 4886325"/>
              <a:gd name="connsiteY2" fmla="*/ 5172075 h 5172075"/>
              <a:gd name="connsiteX3" fmla="*/ 2676525 w 4886325"/>
              <a:gd name="connsiteY3" fmla="*/ 0 h 5172075"/>
              <a:gd name="connsiteX4" fmla="*/ 0 w 4886325"/>
              <a:gd name="connsiteY4" fmla="*/ 0 h 517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6325" h="5172075">
                <a:moveTo>
                  <a:pt x="0" y="0"/>
                </a:moveTo>
                <a:lnTo>
                  <a:pt x="0" y="5172075"/>
                </a:lnTo>
                <a:lnTo>
                  <a:pt x="4886325" y="5172075"/>
                </a:lnTo>
                <a:lnTo>
                  <a:pt x="2676525" y="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8" name="任意多边形 107"/>
          <p:cNvSpPr/>
          <p:nvPr/>
        </p:nvSpPr>
        <p:spPr>
          <a:xfrm>
            <a:off x="-159" y="582"/>
            <a:ext cx="3985260" cy="4727734"/>
          </a:xfrm>
          <a:custGeom>
            <a:avLst/>
            <a:gdLst>
              <a:gd name="connsiteX0" fmla="*/ 0 w 4886325"/>
              <a:gd name="connsiteY0" fmla="*/ 0 h 5172075"/>
              <a:gd name="connsiteX1" fmla="*/ 0 w 4886325"/>
              <a:gd name="connsiteY1" fmla="*/ 5172075 h 5172075"/>
              <a:gd name="connsiteX2" fmla="*/ 4886325 w 4886325"/>
              <a:gd name="connsiteY2" fmla="*/ 5172075 h 5172075"/>
              <a:gd name="connsiteX3" fmla="*/ 2676525 w 4886325"/>
              <a:gd name="connsiteY3" fmla="*/ 0 h 5172075"/>
              <a:gd name="connsiteX4" fmla="*/ 0 w 4886325"/>
              <a:gd name="connsiteY4" fmla="*/ 0 h 517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86325" h="5172075">
                <a:moveTo>
                  <a:pt x="0" y="0"/>
                </a:moveTo>
                <a:lnTo>
                  <a:pt x="0" y="5172075"/>
                </a:lnTo>
                <a:lnTo>
                  <a:pt x="4886325" y="5172075"/>
                </a:lnTo>
                <a:lnTo>
                  <a:pt x="267652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50000"/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grpSp>
        <p:nvGrpSpPr>
          <p:cNvPr id="93" name="组合 92"/>
          <p:cNvGrpSpPr/>
          <p:nvPr/>
        </p:nvGrpSpPr>
        <p:grpSpPr>
          <a:xfrm>
            <a:off x="2599055" y="1131570"/>
            <a:ext cx="1430655" cy="171450"/>
            <a:chOff x="4253" y="2172"/>
            <a:chExt cx="2253" cy="270"/>
          </a:xfrm>
        </p:grpSpPr>
        <p:sp>
          <p:nvSpPr>
            <p:cNvPr id="90" name="Freeform 1143"/>
            <p:cNvSpPr>
              <a:spLocks noEditPoints="1"/>
            </p:cNvSpPr>
            <p:nvPr/>
          </p:nvSpPr>
          <p:spPr bwMode="auto">
            <a:xfrm>
              <a:off x="4388" y="2284"/>
              <a:ext cx="2118" cy="40"/>
            </a:xfrm>
            <a:custGeom>
              <a:avLst/>
              <a:gdLst>
                <a:gd name="T0" fmla="*/ 148 w 424"/>
                <a:gd name="T1" fmla="*/ 8 h 8"/>
                <a:gd name="T2" fmla="*/ 132 w 424"/>
                <a:gd name="T3" fmla="*/ 0 h 8"/>
                <a:gd name="T4" fmla="*/ 136 w 424"/>
                <a:gd name="T5" fmla="*/ 4 h 8"/>
                <a:gd name="T6" fmla="*/ 176 w 424"/>
                <a:gd name="T7" fmla="*/ 4 h 8"/>
                <a:gd name="T8" fmla="*/ 180 w 424"/>
                <a:gd name="T9" fmla="*/ 0 h 8"/>
                <a:gd name="T10" fmla="*/ 212 w 424"/>
                <a:gd name="T11" fmla="*/ 8 h 8"/>
                <a:gd name="T12" fmla="*/ 196 w 424"/>
                <a:gd name="T13" fmla="*/ 0 h 8"/>
                <a:gd name="T14" fmla="*/ 200 w 424"/>
                <a:gd name="T15" fmla="*/ 4 h 8"/>
                <a:gd name="T16" fmla="*/ 112 w 424"/>
                <a:gd name="T17" fmla="*/ 4 h 8"/>
                <a:gd name="T18" fmla="*/ 116 w 424"/>
                <a:gd name="T19" fmla="*/ 0 h 8"/>
                <a:gd name="T20" fmla="*/ 164 w 424"/>
                <a:gd name="T21" fmla="*/ 8 h 8"/>
                <a:gd name="T22" fmla="*/ 20 w 424"/>
                <a:gd name="T23" fmla="*/ 0 h 8"/>
                <a:gd name="T24" fmla="*/ 24 w 424"/>
                <a:gd name="T25" fmla="*/ 4 h 8"/>
                <a:gd name="T26" fmla="*/ 96 w 424"/>
                <a:gd name="T27" fmla="*/ 4 h 8"/>
                <a:gd name="T28" fmla="*/ 100 w 424"/>
                <a:gd name="T29" fmla="*/ 0 h 8"/>
                <a:gd name="T30" fmla="*/ 4 w 424"/>
                <a:gd name="T31" fmla="*/ 8 h 8"/>
                <a:gd name="T32" fmla="*/ 36 w 424"/>
                <a:gd name="T33" fmla="*/ 0 h 8"/>
                <a:gd name="T34" fmla="*/ 40 w 424"/>
                <a:gd name="T35" fmla="*/ 4 h 8"/>
                <a:gd name="T36" fmla="*/ 80 w 424"/>
                <a:gd name="T37" fmla="*/ 4 h 8"/>
                <a:gd name="T38" fmla="*/ 84 w 424"/>
                <a:gd name="T39" fmla="*/ 0 h 8"/>
                <a:gd name="T40" fmla="*/ 68 w 424"/>
                <a:gd name="T41" fmla="*/ 8 h 8"/>
                <a:gd name="T42" fmla="*/ 52 w 424"/>
                <a:gd name="T43" fmla="*/ 0 h 8"/>
                <a:gd name="T44" fmla="*/ 56 w 424"/>
                <a:gd name="T45" fmla="*/ 4 h 8"/>
                <a:gd name="T46" fmla="*/ 336 w 424"/>
                <a:gd name="T47" fmla="*/ 4 h 8"/>
                <a:gd name="T48" fmla="*/ 340 w 424"/>
                <a:gd name="T49" fmla="*/ 0 h 8"/>
                <a:gd name="T50" fmla="*/ 372 w 424"/>
                <a:gd name="T51" fmla="*/ 8 h 8"/>
                <a:gd name="T52" fmla="*/ 356 w 424"/>
                <a:gd name="T53" fmla="*/ 0 h 8"/>
                <a:gd name="T54" fmla="*/ 360 w 424"/>
                <a:gd name="T55" fmla="*/ 4 h 8"/>
                <a:gd name="T56" fmla="*/ 384 w 424"/>
                <a:gd name="T57" fmla="*/ 4 h 8"/>
                <a:gd name="T58" fmla="*/ 388 w 424"/>
                <a:gd name="T59" fmla="*/ 0 h 8"/>
                <a:gd name="T60" fmla="*/ 420 w 424"/>
                <a:gd name="T61" fmla="*/ 8 h 8"/>
                <a:gd name="T62" fmla="*/ 404 w 424"/>
                <a:gd name="T63" fmla="*/ 0 h 8"/>
                <a:gd name="T64" fmla="*/ 408 w 424"/>
                <a:gd name="T65" fmla="*/ 4 h 8"/>
                <a:gd name="T66" fmla="*/ 224 w 424"/>
                <a:gd name="T67" fmla="*/ 4 h 8"/>
                <a:gd name="T68" fmla="*/ 228 w 424"/>
                <a:gd name="T69" fmla="*/ 0 h 8"/>
                <a:gd name="T70" fmla="*/ 260 w 424"/>
                <a:gd name="T71" fmla="*/ 8 h 8"/>
                <a:gd name="T72" fmla="*/ 244 w 424"/>
                <a:gd name="T73" fmla="*/ 0 h 8"/>
                <a:gd name="T74" fmla="*/ 248 w 424"/>
                <a:gd name="T75" fmla="*/ 4 h 8"/>
                <a:gd name="T76" fmla="*/ 272 w 424"/>
                <a:gd name="T77" fmla="*/ 4 h 8"/>
                <a:gd name="T78" fmla="*/ 276 w 424"/>
                <a:gd name="T79" fmla="*/ 0 h 8"/>
                <a:gd name="T80" fmla="*/ 308 w 424"/>
                <a:gd name="T81" fmla="*/ 8 h 8"/>
                <a:gd name="T82" fmla="*/ 324 w 424"/>
                <a:gd name="T83" fmla="*/ 0 h 8"/>
                <a:gd name="T84" fmla="*/ 328 w 424"/>
                <a:gd name="T85" fmla="*/ 4 h 8"/>
                <a:gd name="T86" fmla="*/ 288 w 424"/>
                <a:gd name="T87" fmla="*/ 4 h 8"/>
                <a:gd name="T88" fmla="*/ 292 w 424"/>
                <a:gd name="T8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4" h="8">
                  <a:moveTo>
                    <a:pt x="148" y="0"/>
                  </a:moveTo>
                  <a:cubicBezTo>
                    <a:pt x="146" y="0"/>
                    <a:pt x="144" y="2"/>
                    <a:pt x="144" y="4"/>
                  </a:cubicBezTo>
                  <a:cubicBezTo>
                    <a:pt x="144" y="7"/>
                    <a:pt x="146" y="8"/>
                    <a:pt x="148" y="8"/>
                  </a:cubicBezTo>
                  <a:cubicBezTo>
                    <a:pt x="150" y="8"/>
                    <a:pt x="152" y="7"/>
                    <a:pt x="152" y="4"/>
                  </a:cubicBezTo>
                  <a:cubicBezTo>
                    <a:pt x="152" y="2"/>
                    <a:pt x="150" y="0"/>
                    <a:pt x="148" y="0"/>
                  </a:cubicBezTo>
                  <a:close/>
                  <a:moveTo>
                    <a:pt x="132" y="0"/>
                  </a:moveTo>
                  <a:cubicBezTo>
                    <a:pt x="130" y="0"/>
                    <a:pt x="128" y="2"/>
                    <a:pt x="128" y="4"/>
                  </a:cubicBezTo>
                  <a:cubicBezTo>
                    <a:pt x="128" y="7"/>
                    <a:pt x="130" y="8"/>
                    <a:pt x="132" y="8"/>
                  </a:cubicBezTo>
                  <a:cubicBezTo>
                    <a:pt x="134" y="8"/>
                    <a:pt x="136" y="7"/>
                    <a:pt x="136" y="4"/>
                  </a:cubicBezTo>
                  <a:cubicBezTo>
                    <a:pt x="136" y="2"/>
                    <a:pt x="134" y="0"/>
                    <a:pt x="132" y="0"/>
                  </a:cubicBezTo>
                  <a:close/>
                  <a:moveTo>
                    <a:pt x="180" y="0"/>
                  </a:moveTo>
                  <a:cubicBezTo>
                    <a:pt x="178" y="0"/>
                    <a:pt x="176" y="2"/>
                    <a:pt x="176" y="4"/>
                  </a:cubicBezTo>
                  <a:cubicBezTo>
                    <a:pt x="176" y="7"/>
                    <a:pt x="178" y="8"/>
                    <a:pt x="180" y="8"/>
                  </a:cubicBezTo>
                  <a:cubicBezTo>
                    <a:pt x="182" y="8"/>
                    <a:pt x="184" y="7"/>
                    <a:pt x="184" y="4"/>
                  </a:cubicBezTo>
                  <a:cubicBezTo>
                    <a:pt x="184" y="2"/>
                    <a:pt x="182" y="0"/>
                    <a:pt x="180" y="0"/>
                  </a:cubicBezTo>
                  <a:close/>
                  <a:moveTo>
                    <a:pt x="212" y="0"/>
                  </a:moveTo>
                  <a:cubicBezTo>
                    <a:pt x="210" y="0"/>
                    <a:pt x="208" y="2"/>
                    <a:pt x="208" y="4"/>
                  </a:cubicBezTo>
                  <a:cubicBezTo>
                    <a:pt x="208" y="7"/>
                    <a:pt x="210" y="8"/>
                    <a:pt x="212" y="8"/>
                  </a:cubicBezTo>
                  <a:cubicBezTo>
                    <a:pt x="214" y="8"/>
                    <a:pt x="216" y="7"/>
                    <a:pt x="216" y="4"/>
                  </a:cubicBezTo>
                  <a:cubicBezTo>
                    <a:pt x="216" y="2"/>
                    <a:pt x="214" y="0"/>
                    <a:pt x="212" y="0"/>
                  </a:cubicBezTo>
                  <a:close/>
                  <a:moveTo>
                    <a:pt x="196" y="0"/>
                  </a:moveTo>
                  <a:cubicBezTo>
                    <a:pt x="194" y="0"/>
                    <a:pt x="192" y="2"/>
                    <a:pt x="192" y="4"/>
                  </a:cubicBezTo>
                  <a:cubicBezTo>
                    <a:pt x="192" y="7"/>
                    <a:pt x="194" y="8"/>
                    <a:pt x="196" y="8"/>
                  </a:cubicBezTo>
                  <a:cubicBezTo>
                    <a:pt x="198" y="8"/>
                    <a:pt x="200" y="7"/>
                    <a:pt x="200" y="4"/>
                  </a:cubicBezTo>
                  <a:cubicBezTo>
                    <a:pt x="200" y="2"/>
                    <a:pt x="198" y="0"/>
                    <a:pt x="196" y="0"/>
                  </a:cubicBezTo>
                  <a:close/>
                  <a:moveTo>
                    <a:pt x="116" y="0"/>
                  </a:moveTo>
                  <a:cubicBezTo>
                    <a:pt x="114" y="0"/>
                    <a:pt x="112" y="2"/>
                    <a:pt x="112" y="4"/>
                  </a:cubicBezTo>
                  <a:cubicBezTo>
                    <a:pt x="112" y="7"/>
                    <a:pt x="114" y="8"/>
                    <a:pt x="116" y="8"/>
                  </a:cubicBezTo>
                  <a:cubicBezTo>
                    <a:pt x="118" y="8"/>
                    <a:pt x="120" y="7"/>
                    <a:pt x="120" y="4"/>
                  </a:cubicBezTo>
                  <a:cubicBezTo>
                    <a:pt x="120" y="2"/>
                    <a:pt x="118" y="0"/>
                    <a:pt x="116" y="0"/>
                  </a:cubicBezTo>
                  <a:close/>
                  <a:moveTo>
                    <a:pt x="164" y="0"/>
                  </a:moveTo>
                  <a:cubicBezTo>
                    <a:pt x="162" y="0"/>
                    <a:pt x="160" y="2"/>
                    <a:pt x="160" y="4"/>
                  </a:cubicBezTo>
                  <a:cubicBezTo>
                    <a:pt x="160" y="7"/>
                    <a:pt x="162" y="8"/>
                    <a:pt x="164" y="8"/>
                  </a:cubicBezTo>
                  <a:cubicBezTo>
                    <a:pt x="166" y="8"/>
                    <a:pt x="168" y="7"/>
                    <a:pt x="168" y="4"/>
                  </a:cubicBezTo>
                  <a:cubicBezTo>
                    <a:pt x="168" y="2"/>
                    <a:pt x="166" y="0"/>
                    <a:pt x="164" y="0"/>
                  </a:cubicBezTo>
                  <a:close/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8" y="8"/>
                    <a:pt x="20" y="8"/>
                  </a:cubicBezTo>
                  <a:cubicBezTo>
                    <a:pt x="22" y="8"/>
                    <a:pt x="24" y="7"/>
                    <a:pt x="24" y="4"/>
                  </a:cubicBezTo>
                  <a:cubicBezTo>
                    <a:pt x="24" y="2"/>
                    <a:pt x="22" y="0"/>
                    <a:pt x="20" y="0"/>
                  </a:cubicBezTo>
                  <a:close/>
                  <a:moveTo>
                    <a:pt x="100" y="0"/>
                  </a:moveTo>
                  <a:cubicBezTo>
                    <a:pt x="98" y="0"/>
                    <a:pt x="96" y="2"/>
                    <a:pt x="96" y="4"/>
                  </a:cubicBezTo>
                  <a:cubicBezTo>
                    <a:pt x="96" y="7"/>
                    <a:pt x="98" y="8"/>
                    <a:pt x="100" y="8"/>
                  </a:cubicBezTo>
                  <a:cubicBezTo>
                    <a:pt x="102" y="8"/>
                    <a:pt x="104" y="7"/>
                    <a:pt x="104" y="4"/>
                  </a:cubicBezTo>
                  <a:cubicBezTo>
                    <a:pt x="104" y="2"/>
                    <a:pt x="102" y="0"/>
                    <a:pt x="100" y="0"/>
                  </a:cubicBezTo>
                  <a:close/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8"/>
                    <a:pt x="4" y="8"/>
                  </a:cubicBezTo>
                  <a:cubicBezTo>
                    <a:pt x="6" y="8"/>
                    <a:pt x="8" y="7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  <a:moveTo>
                    <a:pt x="36" y="0"/>
                  </a:moveTo>
                  <a:cubicBezTo>
                    <a:pt x="34" y="0"/>
                    <a:pt x="32" y="2"/>
                    <a:pt x="32" y="4"/>
                  </a:cubicBezTo>
                  <a:cubicBezTo>
                    <a:pt x="32" y="7"/>
                    <a:pt x="34" y="8"/>
                    <a:pt x="36" y="8"/>
                  </a:cubicBezTo>
                  <a:cubicBezTo>
                    <a:pt x="38" y="8"/>
                    <a:pt x="40" y="7"/>
                    <a:pt x="40" y="4"/>
                  </a:cubicBezTo>
                  <a:cubicBezTo>
                    <a:pt x="40" y="2"/>
                    <a:pt x="38" y="0"/>
                    <a:pt x="36" y="0"/>
                  </a:cubicBezTo>
                  <a:close/>
                  <a:moveTo>
                    <a:pt x="84" y="0"/>
                  </a:moveTo>
                  <a:cubicBezTo>
                    <a:pt x="82" y="0"/>
                    <a:pt x="80" y="2"/>
                    <a:pt x="80" y="4"/>
                  </a:cubicBezTo>
                  <a:cubicBezTo>
                    <a:pt x="80" y="7"/>
                    <a:pt x="82" y="8"/>
                    <a:pt x="84" y="8"/>
                  </a:cubicBezTo>
                  <a:cubicBezTo>
                    <a:pt x="86" y="8"/>
                    <a:pt x="88" y="7"/>
                    <a:pt x="88" y="4"/>
                  </a:cubicBezTo>
                  <a:cubicBezTo>
                    <a:pt x="88" y="2"/>
                    <a:pt x="86" y="0"/>
                    <a:pt x="84" y="0"/>
                  </a:cubicBezTo>
                  <a:close/>
                  <a:moveTo>
                    <a:pt x="68" y="0"/>
                  </a:moveTo>
                  <a:cubicBezTo>
                    <a:pt x="66" y="0"/>
                    <a:pt x="64" y="2"/>
                    <a:pt x="64" y="4"/>
                  </a:cubicBezTo>
                  <a:cubicBezTo>
                    <a:pt x="64" y="7"/>
                    <a:pt x="66" y="8"/>
                    <a:pt x="68" y="8"/>
                  </a:cubicBezTo>
                  <a:cubicBezTo>
                    <a:pt x="70" y="8"/>
                    <a:pt x="72" y="7"/>
                    <a:pt x="72" y="4"/>
                  </a:cubicBezTo>
                  <a:cubicBezTo>
                    <a:pt x="72" y="2"/>
                    <a:pt x="70" y="0"/>
                    <a:pt x="68" y="0"/>
                  </a:cubicBezTo>
                  <a:close/>
                  <a:moveTo>
                    <a:pt x="52" y="0"/>
                  </a:moveTo>
                  <a:cubicBezTo>
                    <a:pt x="50" y="0"/>
                    <a:pt x="48" y="2"/>
                    <a:pt x="48" y="4"/>
                  </a:cubicBezTo>
                  <a:cubicBezTo>
                    <a:pt x="48" y="7"/>
                    <a:pt x="50" y="8"/>
                    <a:pt x="52" y="8"/>
                  </a:cubicBezTo>
                  <a:cubicBezTo>
                    <a:pt x="54" y="8"/>
                    <a:pt x="56" y="7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lose/>
                  <a:moveTo>
                    <a:pt x="340" y="0"/>
                  </a:moveTo>
                  <a:cubicBezTo>
                    <a:pt x="338" y="0"/>
                    <a:pt x="336" y="2"/>
                    <a:pt x="336" y="4"/>
                  </a:cubicBezTo>
                  <a:cubicBezTo>
                    <a:pt x="336" y="7"/>
                    <a:pt x="338" y="8"/>
                    <a:pt x="340" y="8"/>
                  </a:cubicBezTo>
                  <a:cubicBezTo>
                    <a:pt x="342" y="8"/>
                    <a:pt x="344" y="7"/>
                    <a:pt x="344" y="4"/>
                  </a:cubicBezTo>
                  <a:cubicBezTo>
                    <a:pt x="344" y="2"/>
                    <a:pt x="342" y="0"/>
                    <a:pt x="340" y="0"/>
                  </a:cubicBezTo>
                  <a:close/>
                  <a:moveTo>
                    <a:pt x="372" y="0"/>
                  </a:moveTo>
                  <a:cubicBezTo>
                    <a:pt x="370" y="0"/>
                    <a:pt x="368" y="2"/>
                    <a:pt x="368" y="4"/>
                  </a:cubicBezTo>
                  <a:cubicBezTo>
                    <a:pt x="368" y="7"/>
                    <a:pt x="370" y="8"/>
                    <a:pt x="372" y="8"/>
                  </a:cubicBezTo>
                  <a:cubicBezTo>
                    <a:pt x="374" y="8"/>
                    <a:pt x="376" y="7"/>
                    <a:pt x="376" y="4"/>
                  </a:cubicBezTo>
                  <a:cubicBezTo>
                    <a:pt x="376" y="2"/>
                    <a:pt x="374" y="0"/>
                    <a:pt x="372" y="0"/>
                  </a:cubicBezTo>
                  <a:close/>
                  <a:moveTo>
                    <a:pt x="356" y="0"/>
                  </a:moveTo>
                  <a:cubicBezTo>
                    <a:pt x="354" y="0"/>
                    <a:pt x="352" y="2"/>
                    <a:pt x="352" y="4"/>
                  </a:cubicBezTo>
                  <a:cubicBezTo>
                    <a:pt x="352" y="7"/>
                    <a:pt x="354" y="8"/>
                    <a:pt x="356" y="8"/>
                  </a:cubicBezTo>
                  <a:cubicBezTo>
                    <a:pt x="358" y="8"/>
                    <a:pt x="360" y="7"/>
                    <a:pt x="360" y="4"/>
                  </a:cubicBezTo>
                  <a:cubicBezTo>
                    <a:pt x="360" y="2"/>
                    <a:pt x="358" y="0"/>
                    <a:pt x="356" y="0"/>
                  </a:cubicBezTo>
                  <a:close/>
                  <a:moveTo>
                    <a:pt x="388" y="0"/>
                  </a:moveTo>
                  <a:cubicBezTo>
                    <a:pt x="386" y="0"/>
                    <a:pt x="384" y="2"/>
                    <a:pt x="384" y="4"/>
                  </a:cubicBezTo>
                  <a:cubicBezTo>
                    <a:pt x="384" y="7"/>
                    <a:pt x="386" y="8"/>
                    <a:pt x="388" y="8"/>
                  </a:cubicBezTo>
                  <a:cubicBezTo>
                    <a:pt x="390" y="8"/>
                    <a:pt x="392" y="7"/>
                    <a:pt x="392" y="4"/>
                  </a:cubicBezTo>
                  <a:cubicBezTo>
                    <a:pt x="392" y="2"/>
                    <a:pt x="390" y="0"/>
                    <a:pt x="388" y="0"/>
                  </a:cubicBezTo>
                  <a:close/>
                  <a:moveTo>
                    <a:pt x="420" y="0"/>
                  </a:moveTo>
                  <a:cubicBezTo>
                    <a:pt x="418" y="0"/>
                    <a:pt x="416" y="2"/>
                    <a:pt x="416" y="4"/>
                  </a:cubicBezTo>
                  <a:cubicBezTo>
                    <a:pt x="416" y="7"/>
                    <a:pt x="418" y="8"/>
                    <a:pt x="420" y="8"/>
                  </a:cubicBezTo>
                  <a:cubicBezTo>
                    <a:pt x="422" y="8"/>
                    <a:pt x="424" y="7"/>
                    <a:pt x="424" y="4"/>
                  </a:cubicBezTo>
                  <a:cubicBezTo>
                    <a:pt x="424" y="2"/>
                    <a:pt x="422" y="0"/>
                    <a:pt x="420" y="0"/>
                  </a:cubicBezTo>
                  <a:close/>
                  <a:moveTo>
                    <a:pt x="404" y="0"/>
                  </a:moveTo>
                  <a:cubicBezTo>
                    <a:pt x="402" y="0"/>
                    <a:pt x="400" y="2"/>
                    <a:pt x="400" y="4"/>
                  </a:cubicBezTo>
                  <a:cubicBezTo>
                    <a:pt x="400" y="7"/>
                    <a:pt x="402" y="8"/>
                    <a:pt x="404" y="8"/>
                  </a:cubicBezTo>
                  <a:cubicBezTo>
                    <a:pt x="406" y="8"/>
                    <a:pt x="408" y="7"/>
                    <a:pt x="408" y="4"/>
                  </a:cubicBezTo>
                  <a:cubicBezTo>
                    <a:pt x="408" y="2"/>
                    <a:pt x="406" y="0"/>
                    <a:pt x="404" y="0"/>
                  </a:cubicBezTo>
                  <a:close/>
                  <a:moveTo>
                    <a:pt x="228" y="0"/>
                  </a:moveTo>
                  <a:cubicBezTo>
                    <a:pt x="226" y="0"/>
                    <a:pt x="224" y="2"/>
                    <a:pt x="224" y="4"/>
                  </a:cubicBezTo>
                  <a:cubicBezTo>
                    <a:pt x="224" y="7"/>
                    <a:pt x="226" y="8"/>
                    <a:pt x="228" y="8"/>
                  </a:cubicBezTo>
                  <a:cubicBezTo>
                    <a:pt x="230" y="8"/>
                    <a:pt x="232" y="7"/>
                    <a:pt x="232" y="4"/>
                  </a:cubicBezTo>
                  <a:cubicBezTo>
                    <a:pt x="232" y="2"/>
                    <a:pt x="230" y="0"/>
                    <a:pt x="228" y="0"/>
                  </a:cubicBezTo>
                  <a:close/>
                  <a:moveTo>
                    <a:pt x="260" y="0"/>
                  </a:moveTo>
                  <a:cubicBezTo>
                    <a:pt x="258" y="0"/>
                    <a:pt x="256" y="2"/>
                    <a:pt x="256" y="4"/>
                  </a:cubicBezTo>
                  <a:cubicBezTo>
                    <a:pt x="256" y="7"/>
                    <a:pt x="258" y="8"/>
                    <a:pt x="260" y="8"/>
                  </a:cubicBezTo>
                  <a:cubicBezTo>
                    <a:pt x="262" y="8"/>
                    <a:pt x="264" y="7"/>
                    <a:pt x="264" y="4"/>
                  </a:cubicBezTo>
                  <a:cubicBezTo>
                    <a:pt x="264" y="2"/>
                    <a:pt x="262" y="0"/>
                    <a:pt x="260" y="0"/>
                  </a:cubicBezTo>
                  <a:close/>
                  <a:moveTo>
                    <a:pt x="244" y="0"/>
                  </a:moveTo>
                  <a:cubicBezTo>
                    <a:pt x="242" y="0"/>
                    <a:pt x="240" y="2"/>
                    <a:pt x="240" y="4"/>
                  </a:cubicBezTo>
                  <a:cubicBezTo>
                    <a:pt x="240" y="7"/>
                    <a:pt x="242" y="8"/>
                    <a:pt x="244" y="8"/>
                  </a:cubicBezTo>
                  <a:cubicBezTo>
                    <a:pt x="246" y="8"/>
                    <a:pt x="248" y="7"/>
                    <a:pt x="248" y="4"/>
                  </a:cubicBezTo>
                  <a:cubicBezTo>
                    <a:pt x="248" y="2"/>
                    <a:pt x="246" y="0"/>
                    <a:pt x="244" y="0"/>
                  </a:cubicBezTo>
                  <a:close/>
                  <a:moveTo>
                    <a:pt x="276" y="0"/>
                  </a:moveTo>
                  <a:cubicBezTo>
                    <a:pt x="274" y="0"/>
                    <a:pt x="272" y="2"/>
                    <a:pt x="272" y="4"/>
                  </a:cubicBezTo>
                  <a:cubicBezTo>
                    <a:pt x="272" y="7"/>
                    <a:pt x="274" y="8"/>
                    <a:pt x="276" y="8"/>
                  </a:cubicBezTo>
                  <a:cubicBezTo>
                    <a:pt x="278" y="8"/>
                    <a:pt x="280" y="7"/>
                    <a:pt x="280" y="4"/>
                  </a:cubicBezTo>
                  <a:cubicBezTo>
                    <a:pt x="280" y="2"/>
                    <a:pt x="278" y="0"/>
                    <a:pt x="276" y="0"/>
                  </a:cubicBezTo>
                  <a:close/>
                  <a:moveTo>
                    <a:pt x="308" y="0"/>
                  </a:moveTo>
                  <a:cubicBezTo>
                    <a:pt x="306" y="0"/>
                    <a:pt x="304" y="2"/>
                    <a:pt x="304" y="4"/>
                  </a:cubicBezTo>
                  <a:cubicBezTo>
                    <a:pt x="304" y="7"/>
                    <a:pt x="306" y="8"/>
                    <a:pt x="308" y="8"/>
                  </a:cubicBezTo>
                  <a:cubicBezTo>
                    <a:pt x="310" y="8"/>
                    <a:pt x="312" y="7"/>
                    <a:pt x="312" y="4"/>
                  </a:cubicBezTo>
                  <a:cubicBezTo>
                    <a:pt x="312" y="2"/>
                    <a:pt x="310" y="0"/>
                    <a:pt x="308" y="0"/>
                  </a:cubicBezTo>
                  <a:close/>
                  <a:moveTo>
                    <a:pt x="324" y="0"/>
                  </a:moveTo>
                  <a:cubicBezTo>
                    <a:pt x="322" y="0"/>
                    <a:pt x="320" y="2"/>
                    <a:pt x="320" y="4"/>
                  </a:cubicBezTo>
                  <a:cubicBezTo>
                    <a:pt x="320" y="7"/>
                    <a:pt x="322" y="8"/>
                    <a:pt x="324" y="8"/>
                  </a:cubicBezTo>
                  <a:cubicBezTo>
                    <a:pt x="326" y="8"/>
                    <a:pt x="328" y="7"/>
                    <a:pt x="328" y="4"/>
                  </a:cubicBezTo>
                  <a:cubicBezTo>
                    <a:pt x="328" y="2"/>
                    <a:pt x="326" y="0"/>
                    <a:pt x="324" y="0"/>
                  </a:cubicBezTo>
                  <a:close/>
                  <a:moveTo>
                    <a:pt x="292" y="0"/>
                  </a:moveTo>
                  <a:cubicBezTo>
                    <a:pt x="290" y="0"/>
                    <a:pt x="288" y="2"/>
                    <a:pt x="288" y="4"/>
                  </a:cubicBezTo>
                  <a:cubicBezTo>
                    <a:pt x="288" y="7"/>
                    <a:pt x="290" y="8"/>
                    <a:pt x="292" y="8"/>
                  </a:cubicBezTo>
                  <a:cubicBezTo>
                    <a:pt x="294" y="8"/>
                    <a:pt x="296" y="7"/>
                    <a:pt x="296" y="4"/>
                  </a:cubicBezTo>
                  <a:cubicBezTo>
                    <a:pt x="296" y="2"/>
                    <a:pt x="294" y="0"/>
                    <a:pt x="2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 sz="900" spc="-3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1" name="Freeform 1155"/>
            <p:cNvSpPr/>
            <p:nvPr/>
          </p:nvSpPr>
          <p:spPr bwMode="auto">
            <a:xfrm>
              <a:off x="4253" y="2172"/>
              <a:ext cx="272" cy="270"/>
            </a:xfrm>
            <a:custGeom>
              <a:avLst/>
              <a:gdLst>
                <a:gd name="T0" fmla="*/ 114 w 130"/>
                <a:gd name="T1" fmla="*/ 93 h 129"/>
                <a:gd name="T2" fmla="*/ 93 w 130"/>
                <a:gd name="T3" fmla="*/ 15 h 129"/>
                <a:gd name="T4" fmla="*/ 16 w 130"/>
                <a:gd name="T5" fmla="*/ 36 h 129"/>
                <a:gd name="T6" fmla="*/ 37 w 130"/>
                <a:gd name="T7" fmla="*/ 114 h 129"/>
                <a:gd name="T8" fmla="*/ 114 w 130"/>
                <a:gd name="T9" fmla="*/ 9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29">
                  <a:moveTo>
                    <a:pt x="114" y="93"/>
                  </a:moveTo>
                  <a:cubicBezTo>
                    <a:pt x="130" y="66"/>
                    <a:pt x="120" y="31"/>
                    <a:pt x="93" y="15"/>
                  </a:cubicBezTo>
                  <a:cubicBezTo>
                    <a:pt x="66" y="0"/>
                    <a:pt x="32" y="9"/>
                    <a:pt x="16" y="36"/>
                  </a:cubicBezTo>
                  <a:cubicBezTo>
                    <a:pt x="0" y="63"/>
                    <a:pt x="10" y="98"/>
                    <a:pt x="37" y="114"/>
                  </a:cubicBezTo>
                  <a:cubicBezTo>
                    <a:pt x="64" y="129"/>
                    <a:pt x="98" y="120"/>
                    <a:pt x="114" y="93"/>
                  </a:cubicBezTo>
                  <a:close/>
                </a:path>
              </a:pathLst>
            </a:custGeom>
            <a:solidFill>
              <a:srgbClr val="0178CE"/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 sz="900" spc="-3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3224530" y="2776220"/>
            <a:ext cx="1426845" cy="171450"/>
            <a:chOff x="4259" y="2172"/>
            <a:chExt cx="2247" cy="270"/>
          </a:xfrm>
        </p:grpSpPr>
        <p:sp>
          <p:nvSpPr>
            <p:cNvPr id="97" name="Freeform 1143"/>
            <p:cNvSpPr>
              <a:spLocks noEditPoints="1"/>
            </p:cNvSpPr>
            <p:nvPr/>
          </p:nvSpPr>
          <p:spPr bwMode="auto">
            <a:xfrm>
              <a:off x="4388" y="2284"/>
              <a:ext cx="2118" cy="40"/>
            </a:xfrm>
            <a:custGeom>
              <a:avLst/>
              <a:gdLst>
                <a:gd name="T0" fmla="*/ 148 w 424"/>
                <a:gd name="T1" fmla="*/ 8 h 8"/>
                <a:gd name="T2" fmla="*/ 132 w 424"/>
                <a:gd name="T3" fmla="*/ 0 h 8"/>
                <a:gd name="T4" fmla="*/ 136 w 424"/>
                <a:gd name="T5" fmla="*/ 4 h 8"/>
                <a:gd name="T6" fmla="*/ 176 w 424"/>
                <a:gd name="T7" fmla="*/ 4 h 8"/>
                <a:gd name="T8" fmla="*/ 180 w 424"/>
                <a:gd name="T9" fmla="*/ 0 h 8"/>
                <a:gd name="T10" fmla="*/ 212 w 424"/>
                <a:gd name="T11" fmla="*/ 8 h 8"/>
                <a:gd name="T12" fmla="*/ 196 w 424"/>
                <a:gd name="T13" fmla="*/ 0 h 8"/>
                <a:gd name="T14" fmla="*/ 200 w 424"/>
                <a:gd name="T15" fmla="*/ 4 h 8"/>
                <a:gd name="T16" fmla="*/ 112 w 424"/>
                <a:gd name="T17" fmla="*/ 4 h 8"/>
                <a:gd name="T18" fmla="*/ 116 w 424"/>
                <a:gd name="T19" fmla="*/ 0 h 8"/>
                <a:gd name="T20" fmla="*/ 164 w 424"/>
                <a:gd name="T21" fmla="*/ 8 h 8"/>
                <a:gd name="T22" fmla="*/ 20 w 424"/>
                <a:gd name="T23" fmla="*/ 0 h 8"/>
                <a:gd name="T24" fmla="*/ 24 w 424"/>
                <a:gd name="T25" fmla="*/ 4 h 8"/>
                <a:gd name="T26" fmla="*/ 96 w 424"/>
                <a:gd name="T27" fmla="*/ 4 h 8"/>
                <a:gd name="T28" fmla="*/ 100 w 424"/>
                <a:gd name="T29" fmla="*/ 0 h 8"/>
                <a:gd name="T30" fmla="*/ 4 w 424"/>
                <a:gd name="T31" fmla="*/ 8 h 8"/>
                <a:gd name="T32" fmla="*/ 36 w 424"/>
                <a:gd name="T33" fmla="*/ 0 h 8"/>
                <a:gd name="T34" fmla="*/ 40 w 424"/>
                <a:gd name="T35" fmla="*/ 4 h 8"/>
                <a:gd name="T36" fmla="*/ 80 w 424"/>
                <a:gd name="T37" fmla="*/ 4 h 8"/>
                <a:gd name="T38" fmla="*/ 84 w 424"/>
                <a:gd name="T39" fmla="*/ 0 h 8"/>
                <a:gd name="T40" fmla="*/ 68 w 424"/>
                <a:gd name="T41" fmla="*/ 8 h 8"/>
                <a:gd name="T42" fmla="*/ 52 w 424"/>
                <a:gd name="T43" fmla="*/ 0 h 8"/>
                <a:gd name="T44" fmla="*/ 56 w 424"/>
                <a:gd name="T45" fmla="*/ 4 h 8"/>
                <a:gd name="T46" fmla="*/ 336 w 424"/>
                <a:gd name="T47" fmla="*/ 4 h 8"/>
                <a:gd name="T48" fmla="*/ 340 w 424"/>
                <a:gd name="T49" fmla="*/ 0 h 8"/>
                <a:gd name="T50" fmla="*/ 372 w 424"/>
                <a:gd name="T51" fmla="*/ 8 h 8"/>
                <a:gd name="T52" fmla="*/ 356 w 424"/>
                <a:gd name="T53" fmla="*/ 0 h 8"/>
                <a:gd name="T54" fmla="*/ 360 w 424"/>
                <a:gd name="T55" fmla="*/ 4 h 8"/>
                <a:gd name="T56" fmla="*/ 384 w 424"/>
                <a:gd name="T57" fmla="*/ 4 h 8"/>
                <a:gd name="T58" fmla="*/ 388 w 424"/>
                <a:gd name="T59" fmla="*/ 0 h 8"/>
                <a:gd name="T60" fmla="*/ 420 w 424"/>
                <a:gd name="T61" fmla="*/ 8 h 8"/>
                <a:gd name="T62" fmla="*/ 404 w 424"/>
                <a:gd name="T63" fmla="*/ 0 h 8"/>
                <a:gd name="T64" fmla="*/ 408 w 424"/>
                <a:gd name="T65" fmla="*/ 4 h 8"/>
                <a:gd name="T66" fmla="*/ 224 w 424"/>
                <a:gd name="T67" fmla="*/ 4 h 8"/>
                <a:gd name="T68" fmla="*/ 228 w 424"/>
                <a:gd name="T69" fmla="*/ 0 h 8"/>
                <a:gd name="T70" fmla="*/ 260 w 424"/>
                <a:gd name="T71" fmla="*/ 8 h 8"/>
                <a:gd name="T72" fmla="*/ 244 w 424"/>
                <a:gd name="T73" fmla="*/ 0 h 8"/>
                <a:gd name="T74" fmla="*/ 248 w 424"/>
                <a:gd name="T75" fmla="*/ 4 h 8"/>
                <a:gd name="T76" fmla="*/ 272 w 424"/>
                <a:gd name="T77" fmla="*/ 4 h 8"/>
                <a:gd name="T78" fmla="*/ 276 w 424"/>
                <a:gd name="T79" fmla="*/ 0 h 8"/>
                <a:gd name="T80" fmla="*/ 308 w 424"/>
                <a:gd name="T81" fmla="*/ 8 h 8"/>
                <a:gd name="T82" fmla="*/ 324 w 424"/>
                <a:gd name="T83" fmla="*/ 0 h 8"/>
                <a:gd name="T84" fmla="*/ 328 w 424"/>
                <a:gd name="T85" fmla="*/ 4 h 8"/>
                <a:gd name="T86" fmla="*/ 288 w 424"/>
                <a:gd name="T87" fmla="*/ 4 h 8"/>
                <a:gd name="T88" fmla="*/ 292 w 424"/>
                <a:gd name="T8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4" h="8">
                  <a:moveTo>
                    <a:pt x="148" y="0"/>
                  </a:moveTo>
                  <a:cubicBezTo>
                    <a:pt x="146" y="0"/>
                    <a:pt x="144" y="2"/>
                    <a:pt x="144" y="4"/>
                  </a:cubicBezTo>
                  <a:cubicBezTo>
                    <a:pt x="144" y="7"/>
                    <a:pt x="146" y="8"/>
                    <a:pt x="148" y="8"/>
                  </a:cubicBezTo>
                  <a:cubicBezTo>
                    <a:pt x="150" y="8"/>
                    <a:pt x="152" y="7"/>
                    <a:pt x="152" y="4"/>
                  </a:cubicBezTo>
                  <a:cubicBezTo>
                    <a:pt x="152" y="2"/>
                    <a:pt x="150" y="0"/>
                    <a:pt x="148" y="0"/>
                  </a:cubicBezTo>
                  <a:close/>
                  <a:moveTo>
                    <a:pt x="132" y="0"/>
                  </a:moveTo>
                  <a:cubicBezTo>
                    <a:pt x="130" y="0"/>
                    <a:pt x="128" y="2"/>
                    <a:pt x="128" y="4"/>
                  </a:cubicBezTo>
                  <a:cubicBezTo>
                    <a:pt x="128" y="7"/>
                    <a:pt x="130" y="8"/>
                    <a:pt x="132" y="8"/>
                  </a:cubicBezTo>
                  <a:cubicBezTo>
                    <a:pt x="134" y="8"/>
                    <a:pt x="136" y="7"/>
                    <a:pt x="136" y="4"/>
                  </a:cubicBezTo>
                  <a:cubicBezTo>
                    <a:pt x="136" y="2"/>
                    <a:pt x="134" y="0"/>
                    <a:pt x="132" y="0"/>
                  </a:cubicBezTo>
                  <a:close/>
                  <a:moveTo>
                    <a:pt x="180" y="0"/>
                  </a:moveTo>
                  <a:cubicBezTo>
                    <a:pt x="178" y="0"/>
                    <a:pt x="176" y="2"/>
                    <a:pt x="176" y="4"/>
                  </a:cubicBezTo>
                  <a:cubicBezTo>
                    <a:pt x="176" y="7"/>
                    <a:pt x="178" y="8"/>
                    <a:pt x="180" y="8"/>
                  </a:cubicBezTo>
                  <a:cubicBezTo>
                    <a:pt x="182" y="8"/>
                    <a:pt x="184" y="7"/>
                    <a:pt x="184" y="4"/>
                  </a:cubicBezTo>
                  <a:cubicBezTo>
                    <a:pt x="184" y="2"/>
                    <a:pt x="182" y="0"/>
                    <a:pt x="180" y="0"/>
                  </a:cubicBezTo>
                  <a:close/>
                  <a:moveTo>
                    <a:pt x="212" y="0"/>
                  </a:moveTo>
                  <a:cubicBezTo>
                    <a:pt x="210" y="0"/>
                    <a:pt x="208" y="2"/>
                    <a:pt x="208" y="4"/>
                  </a:cubicBezTo>
                  <a:cubicBezTo>
                    <a:pt x="208" y="7"/>
                    <a:pt x="210" y="8"/>
                    <a:pt x="212" y="8"/>
                  </a:cubicBezTo>
                  <a:cubicBezTo>
                    <a:pt x="214" y="8"/>
                    <a:pt x="216" y="7"/>
                    <a:pt x="216" y="4"/>
                  </a:cubicBezTo>
                  <a:cubicBezTo>
                    <a:pt x="216" y="2"/>
                    <a:pt x="214" y="0"/>
                    <a:pt x="212" y="0"/>
                  </a:cubicBezTo>
                  <a:close/>
                  <a:moveTo>
                    <a:pt x="196" y="0"/>
                  </a:moveTo>
                  <a:cubicBezTo>
                    <a:pt x="194" y="0"/>
                    <a:pt x="192" y="2"/>
                    <a:pt x="192" y="4"/>
                  </a:cubicBezTo>
                  <a:cubicBezTo>
                    <a:pt x="192" y="7"/>
                    <a:pt x="194" y="8"/>
                    <a:pt x="196" y="8"/>
                  </a:cubicBezTo>
                  <a:cubicBezTo>
                    <a:pt x="198" y="8"/>
                    <a:pt x="200" y="7"/>
                    <a:pt x="200" y="4"/>
                  </a:cubicBezTo>
                  <a:cubicBezTo>
                    <a:pt x="200" y="2"/>
                    <a:pt x="198" y="0"/>
                    <a:pt x="196" y="0"/>
                  </a:cubicBezTo>
                  <a:close/>
                  <a:moveTo>
                    <a:pt x="116" y="0"/>
                  </a:moveTo>
                  <a:cubicBezTo>
                    <a:pt x="114" y="0"/>
                    <a:pt x="112" y="2"/>
                    <a:pt x="112" y="4"/>
                  </a:cubicBezTo>
                  <a:cubicBezTo>
                    <a:pt x="112" y="7"/>
                    <a:pt x="114" y="8"/>
                    <a:pt x="116" y="8"/>
                  </a:cubicBezTo>
                  <a:cubicBezTo>
                    <a:pt x="118" y="8"/>
                    <a:pt x="120" y="7"/>
                    <a:pt x="120" y="4"/>
                  </a:cubicBezTo>
                  <a:cubicBezTo>
                    <a:pt x="120" y="2"/>
                    <a:pt x="118" y="0"/>
                    <a:pt x="116" y="0"/>
                  </a:cubicBezTo>
                  <a:close/>
                  <a:moveTo>
                    <a:pt x="164" y="0"/>
                  </a:moveTo>
                  <a:cubicBezTo>
                    <a:pt x="162" y="0"/>
                    <a:pt x="160" y="2"/>
                    <a:pt x="160" y="4"/>
                  </a:cubicBezTo>
                  <a:cubicBezTo>
                    <a:pt x="160" y="7"/>
                    <a:pt x="162" y="8"/>
                    <a:pt x="164" y="8"/>
                  </a:cubicBezTo>
                  <a:cubicBezTo>
                    <a:pt x="166" y="8"/>
                    <a:pt x="168" y="7"/>
                    <a:pt x="168" y="4"/>
                  </a:cubicBezTo>
                  <a:cubicBezTo>
                    <a:pt x="168" y="2"/>
                    <a:pt x="166" y="0"/>
                    <a:pt x="164" y="0"/>
                  </a:cubicBezTo>
                  <a:close/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8" y="8"/>
                    <a:pt x="20" y="8"/>
                  </a:cubicBezTo>
                  <a:cubicBezTo>
                    <a:pt x="22" y="8"/>
                    <a:pt x="24" y="7"/>
                    <a:pt x="24" y="4"/>
                  </a:cubicBezTo>
                  <a:cubicBezTo>
                    <a:pt x="24" y="2"/>
                    <a:pt x="22" y="0"/>
                    <a:pt x="20" y="0"/>
                  </a:cubicBezTo>
                  <a:close/>
                  <a:moveTo>
                    <a:pt x="100" y="0"/>
                  </a:moveTo>
                  <a:cubicBezTo>
                    <a:pt x="98" y="0"/>
                    <a:pt x="96" y="2"/>
                    <a:pt x="96" y="4"/>
                  </a:cubicBezTo>
                  <a:cubicBezTo>
                    <a:pt x="96" y="7"/>
                    <a:pt x="98" y="8"/>
                    <a:pt x="100" y="8"/>
                  </a:cubicBezTo>
                  <a:cubicBezTo>
                    <a:pt x="102" y="8"/>
                    <a:pt x="104" y="7"/>
                    <a:pt x="104" y="4"/>
                  </a:cubicBezTo>
                  <a:cubicBezTo>
                    <a:pt x="104" y="2"/>
                    <a:pt x="102" y="0"/>
                    <a:pt x="100" y="0"/>
                  </a:cubicBezTo>
                  <a:close/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8"/>
                    <a:pt x="4" y="8"/>
                  </a:cubicBezTo>
                  <a:cubicBezTo>
                    <a:pt x="6" y="8"/>
                    <a:pt x="8" y="7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  <a:moveTo>
                    <a:pt x="36" y="0"/>
                  </a:moveTo>
                  <a:cubicBezTo>
                    <a:pt x="34" y="0"/>
                    <a:pt x="32" y="2"/>
                    <a:pt x="32" y="4"/>
                  </a:cubicBezTo>
                  <a:cubicBezTo>
                    <a:pt x="32" y="7"/>
                    <a:pt x="34" y="8"/>
                    <a:pt x="36" y="8"/>
                  </a:cubicBezTo>
                  <a:cubicBezTo>
                    <a:pt x="38" y="8"/>
                    <a:pt x="40" y="7"/>
                    <a:pt x="40" y="4"/>
                  </a:cubicBezTo>
                  <a:cubicBezTo>
                    <a:pt x="40" y="2"/>
                    <a:pt x="38" y="0"/>
                    <a:pt x="36" y="0"/>
                  </a:cubicBezTo>
                  <a:close/>
                  <a:moveTo>
                    <a:pt x="84" y="0"/>
                  </a:moveTo>
                  <a:cubicBezTo>
                    <a:pt x="82" y="0"/>
                    <a:pt x="80" y="2"/>
                    <a:pt x="80" y="4"/>
                  </a:cubicBezTo>
                  <a:cubicBezTo>
                    <a:pt x="80" y="7"/>
                    <a:pt x="82" y="8"/>
                    <a:pt x="84" y="8"/>
                  </a:cubicBezTo>
                  <a:cubicBezTo>
                    <a:pt x="86" y="8"/>
                    <a:pt x="88" y="7"/>
                    <a:pt x="88" y="4"/>
                  </a:cubicBezTo>
                  <a:cubicBezTo>
                    <a:pt x="88" y="2"/>
                    <a:pt x="86" y="0"/>
                    <a:pt x="84" y="0"/>
                  </a:cubicBezTo>
                  <a:close/>
                  <a:moveTo>
                    <a:pt x="68" y="0"/>
                  </a:moveTo>
                  <a:cubicBezTo>
                    <a:pt x="66" y="0"/>
                    <a:pt x="64" y="2"/>
                    <a:pt x="64" y="4"/>
                  </a:cubicBezTo>
                  <a:cubicBezTo>
                    <a:pt x="64" y="7"/>
                    <a:pt x="66" y="8"/>
                    <a:pt x="68" y="8"/>
                  </a:cubicBezTo>
                  <a:cubicBezTo>
                    <a:pt x="70" y="8"/>
                    <a:pt x="72" y="7"/>
                    <a:pt x="72" y="4"/>
                  </a:cubicBezTo>
                  <a:cubicBezTo>
                    <a:pt x="72" y="2"/>
                    <a:pt x="70" y="0"/>
                    <a:pt x="68" y="0"/>
                  </a:cubicBezTo>
                  <a:close/>
                  <a:moveTo>
                    <a:pt x="52" y="0"/>
                  </a:moveTo>
                  <a:cubicBezTo>
                    <a:pt x="50" y="0"/>
                    <a:pt x="48" y="2"/>
                    <a:pt x="48" y="4"/>
                  </a:cubicBezTo>
                  <a:cubicBezTo>
                    <a:pt x="48" y="7"/>
                    <a:pt x="50" y="8"/>
                    <a:pt x="52" y="8"/>
                  </a:cubicBezTo>
                  <a:cubicBezTo>
                    <a:pt x="54" y="8"/>
                    <a:pt x="56" y="7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lose/>
                  <a:moveTo>
                    <a:pt x="340" y="0"/>
                  </a:moveTo>
                  <a:cubicBezTo>
                    <a:pt x="338" y="0"/>
                    <a:pt x="336" y="2"/>
                    <a:pt x="336" y="4"/>
                  </a:cubicBezTo>
                  <a:cubicBezTo>
                    <a:pt x="336" y="7"/>
                    <a:pt x="338" y="8"/>
                    <a:pt x="340" y="8"/>
                  </a:cubicBezTo>
                  <a:cubicBezTo>
                    <a:pt x="342" y="8"/>
                    <a:pt x="344" y="7"/>
                    <a:pt x="344" y="4"/>
                  </a:cubicBezTo>
                  <a:cubicBezTo>
                    <a:pt x="344" y="2"/>
                    <a:pt x="342" y="0"/>
                    <a:pt x="340" y="0"/>
                  </a:cubicBezTo>
                  <a:close/>
                  <a:moveTo>
                    <a:pt x="372" y="0"/>
                  </a:moveTo>
                  <a:cubicBezTo>
                    <a:pt x="370" y="0"/>
                    <a:pt x="368" y="2"/>
                    <a:pt x="368" y="4"/>
                  </a:cubicBezTo>
                  <a:cubicBezTo>
                    <a:pt x="368" y="7"/>
                    <a:pt x="370" y="8"/>
                    <a:pt x="372" y="8"/>
                  </a:cubicBezTo>
                  <a:cubicBezTo>
                    <a:pt x="374" y="8"/>
                    <a:pt x="376" y="7"/>
                    <a:pt x="376" y="4"/>
                  </a:cubicBezTo>
                  <a:cubicBezTo>
                    <a:pt x="376" y="2"/>
                    <a:pt x="374" y="0"/>
                    <a:pt x="372" y="0"/>
                  </a:cubicBezTo>
                  <a:close/>
                  <a:moveTo>
                    <a:pt x="356" y="0"/>
                  </a:moveTo>
                  <a:cubicBezTo>
                    <a:pt x="354" y="0"/>
                    <a:pt x="352" y="2"/>
                    <a:pt x="352" y="4"/>
                  </a:cubicBezTo>
                  <a:cubicBezTo>
                    <a:pt x="352" y="7"/>
                    <a:pt x="354" y="8"/>
                    <a:pt x="356" y="8"/>
                  </a:cubicBezTo>
                  <a:cubicBezTo>
                    <a:pt x="358" y="8"/>
                    <a:pt x="360" y="7"/>
                    <a:pt x="360" y="4"/>
                  </a:cubicBezTo>
                  <a:cubicBezTo>
                    <a:pt x="360" y="2"/>
                    <a:pt x="358" y="0"/>
                    <a:pt x="356" y="0"/>
                  </a:cubicBezTo>
                  <a:close/>
                  <a:moveTo>
                    <a:pt x="388" y="0"/>
                  </a:moveTo>
                  <a:cubicBezTo>
                    <a:pt x="386" y="0"/>
                    <a:pt x="384" y="2"/>
                    <a:pt x="384" y="4"/>
                  </a:cubicBezTo>
                  <a:cubicBezTo>
                    <a:pt x="384" y="7"/>
                    <a:pt x="386" y="8"/>
                    <a:pt x="388" y="8"/>
                  </a:cubicBezTo>
                  <a:cubicBezTo>
                    <a:pt x="390" y="8"/>
                    <a:pt x="392" y="7"/>
                    <a:pt x="392" y="4"/>
                  </a:cubicBezTo>
                  <a:cubicBezTo>
                    <a:pt x="392" y="2"/>
                    <a:pt x="390" y="0"/>
                    <a:pt x="388" y="0"/>
                  </a:cubicBezTo>
                  <a:close/>
                  <a:moveTo>
                    <a:pt x="420" y="0"/>
                  </a:moveTo>
                  <a:cubicBezTo>
                    <a:pt x="418" y="0"/>
                    <a:pt x="416" y="2"/>
                    <a:pt x="416" y="4"/>
                  </a:cubicBezTo>
                  <a:cubicBezTo>
                    <a:pt x="416" y="7"/>
                    <a:pt x="418" y="8"/>
                    <a:pt x="420" y="8"/>
                  </a:cubicBezTo>
                  <a:cubicBezTo>
                    <a:pt x="422" y="8"/>
                    <a:pt x="424" y="7"/>
                    <a:pt x="424" y="4"/>
                  </a:cubicBezTo>
                  <a:cubicBezTo>
                    <a:pt x="424" y="2"/>
                    <a:pt x="422" y="0"/>
                    <a:pt x="420" y="0"/>
                  </a:cubicBezTo>
                  <a:close/>
                  <a:moveTo>
                    <a:pt x="404" y="0"/>
                  </a:moveTo>
                  <a:cubicBezTo>
                    <a:pt x="402" y="0"/>
                    <a:pt x="400" y="2"/>
                    <a:pt x="400" y="4"/>
                  </a:cubicBezTo>
                  <a:cubicBezTo>
                    <a:pt x="400" y="7"/>
                    <a:pt x="402" y="8"/>
                    <a:pt x="404" y="8"/>
                  </a:cubicBezTo>
                  <a:cubicBezTo>
                    <a:pt x="406" y="8"/>
                    <a:pt x="408" y="7"/>
                    <a:pt x="408" y="4"/>
                  </a:cubicBezTo>
                  <a:cubicBezTo>
                    <a:pt x="408" y="2"/>
                    <a:pt x="406" y="0"/>
                    <a:pt x="404" y="0"/>
                  </a:cubicBezTo>
                  <a:close/>
                  <a:moveTo>
                    <a:pt x="228" y="0"/>
                  </a:moveTo>
                  <a:cubicBezTo>
                    <a:pt x="226" y="0"/>
                    <a:pt x="224" y="2"/>
                    <a:pt x="224" y="4"/>
                  </a:cubicBezTo>
                  <a:cubicBezTo>
                    <a:pt x="224" y="7"/>
                    <a:pt x="226" y="8"/>
                    <a:pt x="228" y="8"/>
                  </a:cubicBezTo>
                  <a:cubicBezTo>
                    <a:pt x="230" y="8"/>
                    <a:pt x="232" y="7"/>
                    <a:pt x="232" y="4"/>
                  </a:cubicBezTo>
                  <a:cubicBezTo>
                    <a:pt x="232" y="2"/>
                    <a:pt x="230" y="0"/>
                    <a:pt x="228" y="0"/>
                  </a:cubicBezTo>
                  <a:close/>
                  <a:moveTo>
                    <a:pt x="260" y="0"/>
                  </a:moveTo>
                  <a:cubicBezTo>
                    <a:pt x="258" y="0"/>
                    <a:pt x="256" y="2"/>
                    <a:pt x="256" y="4"/>
                  </a:cubicBezTo>
                  <a:cubicBezTo>
                    <a:pt x="256" y="7"/>
                    <a:pt x="258" y="8"/>
                    <a:pt x="260" y="8"/>
                  </a:cubicBezTo>
                  <a:cubicBezTo>
                    <a:pt x="262" y="8"/>
                    <a:pt x="264" y="7"/>
                    <a:pt x="264" y="4"/>
                  </a:cubicBezTo>
                  <a:cubicBezTo>
                    <a:pt x="264" y="2"/>
                    <a:pt x="262" y="0"/>
                    <a:pt x="260" y="0"/>
                  </a:cubicBezTo>
                  <a:close/>
                  <a:moveTo>
                    <a:pt x="244" y="0"/>
                  </a:moveTo>
                  <a:cubicBezTo>
                    <a:pt x="242" y="0"/>
                    <a:pt x="240" y="2"/>
                    <a:pt x="240" y="4"/>
                  </a:cubicBezTo>
                  <a:cubicBezTo>
                    <a:pt x="240" y="7"/>
                    <a:pt x="242" y="8"/>
                    <a:pt x="244" y="8"/>
                  </a:cubicBezTo>
                  <a:cubicBezTo>
                    <a:pt x="246" y="8"/>
                    <a:pt x="248" y="7"/>
                    <a:pt x="248" y="4"/>
                  </a:cubicBezTo>
                  <a:cubicBezTo>
                    <a:pt x="248" y="2"/>
                    <a:pt x="246" y="0"/>
                    <a:pt x="244" y="0"/>
                  </a:cubicBezTo>
                  <a:close/>
                  <a:moveTo>
                    <a:pt x="276" y="0"/>
                  </a:moveTo>
                  <a:cubicBezTo>
                    <a:pt x="274" y="0"/>
                    <a:pt x="272" y="2"/>
                    <a:pt x="272" y="4"/>
                  </a:cubicBezTo>
                  <a:cubicBezTo>
                    <a:pt x="272" y="7"/>
                    <a:pt x="274" y="8"/>
                    <a:pt x="276" y="8"/>
                  </a:cubicBezTo>
                  <a:cubicBezTo>
                    <a:pt x="278" y="8"/>
                    <a:pt x="280" y="7"/>
                    <a:pt x="280" y="4"/>
                  </a:cubicBezTo>
                  <a:cubicBezTo>
                    <a:pt x="280" y="2"/>
                    <a:pt x="278" y="0"/>
                    <a:pt x="276" y="0"/>
                  </a:cubicBezTo>
                  <a:close/>
                  <a:moveTo>
                    <a:pt x="308" y="0"/>
                  </a:moveTo>
                  <a:cubicBezTo>
                    <a:pt x="306" y="0"/>
                    <a:pt x="304" y="2"/>
                    <a:pt x="304" y="4"/>
                  </a:cubicBezTo>
                  <a:cubicBezTo>
                    <a:pt x="304" y="7"/>
                    <a:pt x="306" y="8"/>
                    <a:pt x="308" y="8"/>
                  </a:cubicBezTo>
                  <a:cubicBezTo>
                    <a:pt x="310" y="8"/>
                    <a:pt x="312" y="7"/>
                    <a:pt x="312" y="4"/>
                  </a:cubicBezTo>
                  <a:cubicBezTo>
                    <a:pt x="312" y="2"/>
                    <a:pt x="310" y="0"/>
                    <a:pt x="308" y="0"/>
                  </a:cubicBezTo>
                  <a:close/>
                  <a:moveTo>
                    <a:pt x="324" y="0"/>
                  </a:moveTo>
                  <a:cubicBezTo>
                    <a:pt x="322" y="0"/>
                    <a:pt x="320" y="2"/>
                    <a:pt x="320" y="4"/>
                  </a:cubicBezTo>
                  <a:cubicBezTo>
                    <a:pt x="320" y="7"/>
                    <a:pt x="322" y="8"/>
                    <a:pt x="324" y="8"/>
                  </a:cubicBezTo>
                  <a:cubicBezTo>
                    <a:pt x="326" y="8"/>
                    <a:pt x="328" y="7"/>
                    <a:pt x="328" y="4"/>
                  </a:cubicBezTo>
                  <a:cubicBezTo>
                    <a:pt x="328" y="2"/>
                    <a:pt x="326" y="0"/>
                    <a:pt x="324" y="0"/>
                  </a:cubicBezTo>
                  <a:close/>
                  <a:moveTo>
                    <a:pt x="292" y="0"/>
                  </a:moveTo>
                  <a:cubicBezTo>
                    <a:pt x="290" y="0"/>
                    <a:pt x="288" y="2"/>
                    <a:pt x="288" y="4"/>
                  </a:cubicBezTo>
                  <a:cubicBezTo>
                    <a:pt x="288" y="7"/>
                    <a:pt x="290" y="8"/>
                    <a:pt x="292" y="8"/>
                  </a:cubicBezTo>
                  <a:cubicBezTo>
                    <a:pt x="294" y="8"/>
                    <a:pt x="296" y="7"/>
                    <a:pt x="296" y="4"/>
                  </a:cubicBezTo>
                  <a:cubicBezTo>
                    <a:pt x="296" y="2"/>
                    <a:pt x="294" y="0"/>
                    <a:pt x="2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 sz="900" spc="-3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8" name="Freeform 1155"/>
            <p:cNvSpPr/>
            <p:nvPr/>
          </p:nvSpPr>
          <p:spPr bwMode="auto">
            <a:xfrm>
              <a:off x="4259" y="2172"/>
              <a:ext cx="272" cy="270"/>
            </a:xfrm>
            <a:custGeom>
              <a:avLst/>
              <a:gdLst>
                <a:gd name="T0" fmla="*/ 114 w 130"/>
                <a:gd name="T1" fmla="*/ 93 h 129"/>
                <a:gd name="T2" fmla="*/ 93 w 130"/>
                <a:gd name="T3" fmla="*/ 15 h 129"/>
                <a:gd name="T4" fmla="*/ 16 w 130"/>
                <a:gd name="T5" fmla="*/ 36 h 129"/>
                <a:gd name="T6" fmla="*/ 37 w 130"/>
                <a:gd name="T7" fmla="*/ 114 h 129"/>
                <a:gd name="T8" fmla="*/ 114 w 130"/>
                <a:gd name="T9" fmla="*/ 9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29">
                  <a:moveTo>
                    <a:pt x="114" y="93"/>
                  </a:moveTo>
                  <a:cubicBezTo>
                    <a:pt x="130" y="66"/>
                    <a:pt x="120" y="31"/>
                    <a:pt x="93" y="15"/>
                  </a:cubicBezTo>
                  <a:cubicBezTo>
                    <a:pt x="66" y="0"/>
                    <a:pt x="32" y="9"/>
                    <a:pt x="16" y="36"/>
                  </a:cubicBezTo>
                  <a:cubicBezTo>
                    <a:pt x="0" y="63"/>
                    <a:pt x="10" y="98"/>
                    <a:pt x="37" y="114"/>
                  </a:cubicBezTo>
                  <a:cubicBezTo>
                    <a:pt x="64" y="129"/>
                    <a:pt x="98" y="120"/>
                    <a:pt x="114" y="93"/>
                  </a:cubicBezTo>
                  <a:close/>
                </a:path>
              </a:pathLst>
            </a:custGeom>
            <a:solidFill>
              <a:srgbClr val="0269B4"/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 sz="900" spc="-3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3536315" y="3598545"/>
            <a:ext cx="1419225" cy="171450"/>
            <a:chOff x="4271" y="2172"/>
            <a:chExt cx="2235" cy="270"/>
          </a:xfrm>
        </p:grpSpPr>
        <p:sp>
          <p:nvSpPr>
            <p:cNvPr id="101" name="Freeform 1143"/>
            <p:cNvSpPr>
              <a:spLocks noEditPoints="1"/>
            </p:cNvSpPr>
            <p:nvPr/>
          </p:nvSpPr>
          <p:spPr bwMode="auto">
            <a:xfrm>
              <a:off x="4388" y="2284"/>
              <a:ext cx="2118" cy="40"/>
            </a:xfrm>
            <a:custGeom>
              <a:avLst/>
              <a:gdLst>
                <a:gd name="T0" fmla="*/ 148 w 424"/>
                <a:gd name="T1" fmla="*/ 8 h 8"/>
                <a:gd name="T2" fmla="*/ 132 w 424"/>
                <a:gd name="T3" fmla="*/ 0 h 8"/>
                <a:gd name="T4" fmla="*/ 136 w 424"/>
                <a:gd name="T5" fmla="*/ 4 h 8"/>
                <a:gd name="T6" fmla="*/ 176 w 424"/>
                <a:gd name="T7" fmla="*/ 4 h 8"/>
                <a:gd name="T8" fmla="*/ 180 w 424"/>
                <a:gd name="T9" fmla="*/ 0 h 8"/>
                <a:gd name="T10" fmla="*/ 212 w 424"/>
                <a:gd name="T11" fmla="*/ 8 h 8"/>
                <a:gd name="T12" fmla="*/ 196 w 424"/>
                <a:gd name="T13" fmla="*/ 0 h 8"/>
                <a:gd name="T14" fmla="*/ 200 w 424"/>
                <a:gd name="T15" fmla="*/ 4 h 8"/>
                <a:gd name="T16" fmla="*/ 112 w 424"/>
                <a:gd name="T17" fmla="*/ 4 h 8"/>
                <a:gd name="T18" fmla="*/ 116 w 424"/>
                <a:gd name="T19" fmla="*/ 0 h 8"/>
                <a:gd name="T20" fmla="*/ 164 w 424"/>
                <a:gd name="T21" fmla="*/ 8 h 8"/>
                <a:gd name="T22" fmla="*/ 20 w 424"/>
                <a:gd name="T23" fmla="*/ 0 h 8"/>
                <a:gd name="T24" fmla="*/ 24 w 424"/>
                <a:gd name="T25" fmla="*/ 4 h 8"/>
                <a:gd name="T26" fmla="*/ 96 w 424"/>
                <a:gd name="T27" fmla="*/ 4 h 8"/>
                <a:gd name="T28" fmla="*/ 100 w 424"/>
                <a:gd name="T29" fmla="*/ 0 h 8"/>
                <a:gd name="T30" fmla="*/ 4 w 424"/>
                <a:gd name="T31" fmla="*/ 8 h 8"/>
                <a:gd name="T32" fmla="*/ 36 w 424"/>
                <a:gd name="T33" fmla="*/ 0 h 8"/>
                <a:gd name="T34" fmla="*/ 40 w 424"/>
                <a:gd name="T35" fmla="*/ 4 h 8"/>
                <a:gd name="T36" fmla="*/ 80 w 424"/>
                <a:gd name="T37" fmla="*/ 4 h 8"/>
                <a:gd name="T38" fmla="*/ 84 w 424"/>
                <a:gd name="T39" fmla="*/ 0 h 8"/>
                <a:gd name="T40" fmla="*/ 68 w 424"/>
                <a:gd name="T41" fmla="*/ 8 h 8"/>
                <a:gd name="T42" fmla="*/ 52 w 424"/>
                <a:gd name="T43" fmla="*/ 0 h 8"/>
                <a:gd name="T44" fmla="*/ 56 w 424"/>
                <a:gd name="T45" fmla="*/ 4 h 8"/>
                <a:gd name="T46" fmla="*/ 336 w 424"/>
                <a:gd name="T47" fmla="*/ 4 h 8"/>
                <a:gd name="T48" fmla="*/ 340 w 424"/>
                <a:gd name="T49" fmla="*/ 0 h 8"/>
                <a:gd name="T50" fmla="*/ 372 w 424"/>
                <a:gd name="T51" fmla="*/ 8 h 8"/>
                <a:gd name="T52" fmla="*/ 356 w 424"/>
                <a:gd name="T53" fmla="*/ 0 h 8"/>
                <a:gd name="T54" fmla="*/ 360 w 424"/>
                <a:gd name="T55" fmla="*/ 4 h 8"/>
                <a:gd name="T56" fmla="*/ 384 w 424"/>
                <a:gd name="T57" fmla="*/ 4 h 8"/>
                <a:gd name="T58" fmla="*/ 388 w 424"/>
                <a:gd name="T59" fmla="*/ 0 h 8"/>
                <a:gd name="T60" fmla="*/ 420 w 424"/>
                <a:gd name="T61" fmla="*/ 8 h 8"/>
                <a:gd name="T62" fmla="*/ 404 w 424"/>
                <a:gd name="T63" fmla="*/ 0 h 8"/>
                <a:gd name="T64" fmla="*/ 408 w 424"/>
                <a:gd name="T65" fmla="*/ 4 h 8"/>
                <a:gd name="T66" fmla="*/ 224 w 424"/>
                <a:gd name="T67" fmla="*/ 4 h 8"/>
                <a:gd name="T68" fmla="*/ 228 w 424"/>
                <a:gd name="T69" fmla="*/ 0 h 8"/>
                <a:gd name="T70" fmla="*/ 260 w 424"/>
                <a:gd name="T71" fmla="*/ 8 h 8"/>
                <a:gd name="T72" fmla="*/ 244 w 424"/>
                <a:gd name="T73" fmla="*/ 0 h 8"/>
                <a:gd name="T74" fmla="*/ 248 w 424"/>
                <a:gd name="T75" fmla="*/ 4 h 8"/>
                <a:gd name="T76" fmla="*/ 272 w 424"/>
                <a:gd name="T77" fmla="*/ 4 h 8"/>
                <a:gd name="T78" fmla="*/ 276 w 424"/>
                <a:gd name="T79" fmla="*/ 0 h 8"/>
                <a:gd name="T80" fmla="*/ 308 w 424"/>
                <a:gd name="T81" fmla="*/ 8 h 8"/>
                <a:gd name="T82" fmla="*/ 324 w 424"/>
                <a:gd name="T83" fmla="*/ 0 h 8"/>
                <a:gd name="T84" fmla="*/ 328 w 424"/>
                <a:gd name="T85" fmla="*/ 4 h 8"/>
                <a:gd name="T86" fmla="*/ 288 w 424"/>
                <a:gd name="T87" fmla="*/ 4 h 8"/>
                <a:gd name="T88" fmla="*/ 292 w 424"/>
                <a:gd name="T8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4" h="8">
                  <a:moveTo>
                    <a:pt x="148" y="0"/>
                  </a:moveTo>
                  <a:cubicBezTo>
                    <a:pt x="146" y="0"/>
                    <a:pt x="144" y="2"/>
                    <a:pt x="144" y="4"/>
                  </a:cubicBezTo>
                  <a:cubicBezTo>
                    <a:pt x="144" y="7"/>
                    <a:pt x="146" y="8"/>
                    <a:pt x="148" y="8"/>
                  </a:cubicBezTo>
                  <a:cubicBezTo>
                    <a:pt x="150" y="8"/>
                    <a:pt x="152" y="7"/>
                    <a:pt x="152" y="4"/>
                  </a:cubicBezTo>
                  <a:cubicBezTo>
                    <a:pt x="152" y="2"/>
                    <a:pt x="150" y="0"/>
                    <a:pt x="148" y="0"/>
                  </a:cubicBezTo>
                  <a:close/>
                  <a:moveTo>
                    <a:pt x="132" y="0"/>
                  </a:moveTo>
                  <a:cubicBezTo>
                    <a:pt x="130" y="0"/>
                    <a:pt x="128" y="2"/>
                    <a:pt x="128" y="4"/>
                  </a:cubicBezTo>
                  <a:cubicBezTo>
                    <a:pt x="128" y="7"/>
                    <a:pt x="130" y="8"/>
                    <a:pt x="132" y="8"/>
                  </a:cubicBezTo>
                  <a:cubicBezTo>
                    <a:pt x="134" y="8"/>
                    <a:pt x="136" y="7"/>
                    <a:pt x="136" y="4"/>
                  </a:cubicBezTo>
                  <a:cubicBezTo>
                    <a:pt x="136" y="2"/>
                    <a:pt x="134" y="0"/>
                    <a:pt x="132" y="0"/>
                  </a:cubicBezTo>
                  <a:close/>
                  <a:moveTo>
                    <a:pt x="180" y="0"/>
                  </a:moveTo>
                  <a:cubicBezTo>
                    <a:pt x="178" y="0"/>
                    <a:pt x="176" y="2"/>
                    <a:pt x="176" y="4"/>
                  </a:cubicBezTo>
                  <a:cubicBezTo>
                    <a:pt x="176" y="7"/>
                    <a:pt x="178" y="8"/>
                    <a:pt x="180" y="8"/>
                  </a:cubicBezTo>
                  <a:cubicBezTo>
                    <a:pt x="182" y="8"/>
                    <a:pt x="184" y="7"/>
                    <a:pt x="184" y="4"/>
                  </a:cubicBezTo>
                  <a:cubicBezTo>
                    <a:pt x="184" y="2"/>
                    <a:pt x="182" y="0"/>
                    <a:pt x="180" y="0"/>
                  </a:cubicBezTo>
                  <a:close/>
                  <a:moveTo>
                    <a:pt x="212" y="0"/>
                  </a:moveTo>
                  <a:cubicBezTo>
                    <a:pt x="210" y="0"/>
                    <a:pt x="208" y="2"/>
                    <a:pt x="208" y="4"/>
                  </a:cubicBezTo>
                  <a:cubicBezTo>
                    <a:pt x="208" y="7"/>
                    <a:pt x="210" y="8"/>
                    <a:pt x="212" y="8"/>
                  </a:cubicBezTo>
                  <a:cubicBezTo>
                    <a:pt x="214" y="8"/>
                    <a:pt x="216" y="7"/>
                    <a:pt x="216" y="4"/>
                  </a:cubicBezTo>
                  <a:cubicBezTo>
                    <a:pt x="216" y="2"/>
                    <a:pt x="214" y="0"/>
                    <a:pt x="212" y="0"/>
                  </a:cubicBezTo>
                  <a:close/>
                  <a:moveTo>
                    <a:pt x="196" y="0"/>
                  </a:moveTo>
                  <a:cubicBezTo>
                    <a:pt x="194" y="0"/>
                    <a:pt x="192" y="2"/>
                    <a:pt x="192" y="4"/>
                  </a:cubicBezTo>
                  <a:cubicBezTo>
                    <a:pt x="192" y="7"/>
                    <a:pt x="194" y="8"/>
                    <a:pt x="196" y="8"/>
                  </a:cubicBezTo>
                  <a:cubicBezTo>
                    <a:pt x="198" y="8"/>
                    <a:pt x="200" y="7"/>
                    <a:pt x="200" y="4"/>
                  </a:cubicBezTo>
                  <a:cubicBezTo>
                    <a:pt x="200" y="2"/>
                    <a:pt x="198" y="0"/>
                    <a:pt x="196" y="0"/>
                  </a:cubicBezTo>
                  <a:close/>
                  <a:moveTo>
                    <a:pt x="116" y="0"/>
                  </a:moveTo>
                  <a:cubicBezTo>
                    <a:pt x="114" y="0"/>
                    <a:pt x="112" y="2"/>
                    <a:pt x="112" y="4"/>
                  </a:cubicBezTo>
                  <a:cubicBezTo>
                    <a:pt x="112" y="7"/>
                    <a:pt x="114" y="8"/>
                    <a:pt x="116" y="8"/>
                  </a:cubicBezTo>
                  <a:cubicBezTo>
                    <a:pt x="118" y="8"/>
                    <a:pt x="120" y="7"/>
                    <a:pt x="120" y="4"/>
                  </a:cubicBezTo>
                  <a:cubicBezTo>
                    <a:pt x="120" y="2"/>
                    <a:pt x="118" y="0"/>
                    <a:pt x="116" y="0"/>
                  </a:cubicBezTo>
                  <a:close/>
                  <a:moveTo>
                    <a:pt x="164" y="0"/>
                  </a:moveTo>
                  <a:cubicBezTo>
                    <a:pt x="162" y="0"/>
                    <a:pt x="160" y="2"/>
                    <a:pt x="160" y="4"/>
                  </a:cubicBezTo>
                  <a:cubicBezTo>
                    <a:pt x="160" y="7"/>
                    <a:pt x="162" y="8"/>
                    <a:pt x="164" y="8"/>
                  </a:cubicBezTo>
                  <a:cubicBezTo>
                    <a:pt x="166" y="8"/>
                    <a:pt x="168" y="7"/>
                    <a:pt x="168" y="4"/>
                  </a:cubicBezTo>
                  <a:cubicBezTo>
                    <a:pt x="168" y="2"/>
                    <a:pt x="166" y="0"/>
                    <a:pt x="164" y="0"/>
                  </a:cubicBezTo>
                  <a:close/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8" y="8"/>
                    <a:pt x="20" y="8"/>
                  </a:cubicBezTo>
                  <a:cubicBezTo>
                    <a:pt x="22" y="8"/>
                    <a:pt x="24" y="7"/>
                    <a:pt x="24" y="4"/>
                  </a:cubicBezTo>
                  <a:cubicBezTo>
                    <a:pt x="24" y="2"/>
                    <a:pt x="22" y="0"/>
                    <a:pt x="20" y="0"/>
                  </a:cubicBezTo>
                  <a:close/>
                  <a:moveTo>
                    <a:pt x="100" y="0"/>
                  </a:moveTo>
                  <a:cubicBezTo>
                    <a:pt x="98" y="0"/>
                    <a:pt x="96" y="2"/>
                    <a:pt x="96" y="4"/>
                  </a:cubicBezTo>
                  <a:cubicBezTo>
                    <a:pt x="96" y="7"/>
                    <a:pt x="98" y="8"/>
                    <a:pt x="100" y="8"/>
                  </a:cubicBezTo>
                  <a:cubicBezTo>
                    <a:pt x="102" y="8"/>
                    <a:pt x="104" y="7"/>
                    <a:pt x="104" y="4"/>
                  </a:cubicBezTo>
                  <a:cubicBezTo>
                    <a:pt x="104" y="2"/>
                    <a:pt x="102" y="0"/>
                    <a:pt x="100" y="0"/>
                  </a:cubicBezTo>
                  <a:close/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8"/>
                    <a:pt x="4" y="8"/>
                  </a:cubicBezTo>
                  <a:cubicBezTo>
                    <a:pt x="6" y="8"/>
                    <a:pt x="8" y="7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  <a:moveTo>
                    <a:pt x="36" y="0"/>
                  </a:moveTo>
                  <a:cubicBezTo>
                    <a:pt x="34" y="0"/>
                    <a:pt x="32" y="2"/>
                    <a:pt x="32" y="4"/>
                  </a:cubicBezTo>
                  <a:cubicBezTo>
                    <a:pt x="32" y="7"/>
                    <a:pt x="34" y="8"/>
                    <a:pt x="36" y="8"/>
                  </a:cubicBezTo>
                  <a:cubicBezTo>
                    <a:pt x="38" y="8"/>
                    <a:pt x="40" y="7"/>
                    <a:pt x="40" y="4"/>
                  </a:cubicBezTo>
                  <a:cubicBezTo>
                    <a:pt x="40" y="2"/>
                    <a:pt x="38" y="0"/>
                    <a:pt x="36" y="0"/>
                  </a:cubicBezTo>
                  <a:close/>
                  <a:moveTo>
                    <a:pt x="84" y="0"/>
                  </a:moveTo>
                  <a:cubicBezTo>
                    <a:pt x="82" y="0"/>
                    <a:pt x="80" y="2"/>
                    <a:pt x="80" y="4"/>
                  </a:cubicBezTo>
                  <a:cubicBezTo>
                    <a:pt x="80" y="7"/>
                    <a:pt x="82" y="8"/>
                    <a:pt x="84" y="8"/>
                  </a:cubicBezTo>
                  <a:cubicBezTo>
                    <a:pt x="86" y="8"/>
                    <a:pt x="88" y="7"/>
                    <a:pt x="88" y="4"/>
                  </a:cubicBezTo>
                  <a:cubicBezTo>
                    <a:pt x="88" y="2"/>
                    <a:pt x="86" y="0"/>
                    <a:pt x="84" y="0"/>
                  </a:cubicBezTo>
                  <a:close/>
                  <a:moveTo>
                    <a:pt x="68" y="0"/>
                  </a:moveTo>
                  <a:cubicBezTo>
                    <a:pt x="66" y="0"/>
                    <a:pt x="64" y="2"/>
                    <a:pt x="64" y="4"/>
                  </a:cubicBezTo>
                  <a:cubicBezTo>
                    <a:pt x="64" y="7"/>
                    <a:pt x="66" y="8"/>
                    <a:pt x="68" y="8"/>
                  </a:cubicBezTo>
                  <a:cubicBezTo>
                    <a:pt x="70" y="8"/>
                    <a:pt x="72" y="7"/>
                    <a:pt x="72" y="4"/>
                  </a:cubicBezTo>
                  <a:cubicBezTo>
                    <a:pt x="72" y="2"/>
                    <a:pt x="70" y="0"/>
                    <a:pt x="68" y="0"/>
                  </a:cubicBezTo>
                  <a:close/>
                  <a:moveTo>
                    <a:pt x="52" y="0"/>
                  </a:moveTo>
                  <a:cubicBezTo>
                    <a:pt x="50" y="0"/>
                    <a:pt x="48" y="2"/>
                    <a:pt x="48" y="4"/>
                  </a:cubicBezTo>
                  <a:cubicBezTo>
                    <a:pt x="48" y="7"/>
                    <a:pt x="50" y="8"/>
                    <a:pt x="52" y="8"/>
                  </a:cubicBezTo>
                  <a:cubicBezTo>
                    <a:pt x="54" y="8"/>
                    <a:pt x="56" y="7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lose/>
                  <a:moveTo>
                    <a:pt x="340" y="0"/>
                  </a:moveTo>
                  <a:cubicBezTo>
                    <a:pt x="338" y="0"/>
                    <a:pt x="336" y="2"/>
                    <a:pt x="336" y="4"/>
                  </a:cubicBezTo>
                  <a:cubicBezTo>
                    <a:pt x="336" y="7"/>
                    <a:pt x="338" y="8"/>
                    <a:pt x="340" y="8"/>
                  </a:cubicBezTo>
                  <a:cubicBezTo>
                    <a:pt x="342" y="8"/>
                    <a:pt x="344" y="7"/>
                    <a:pt x="344" y="4"/>
                  </a:cubicBezTo>
                  <a:cubicBezTo>
                    <a:pt x="344" y="2"/>
                    <a:pt x="342" y="0"/>
                    <a:pt x="340" y="0"/>
                  </a:cubicBezTo>
                  <a:close/>
                  <a:moveTo>
                    <a:pt x="372" y="0"/>
                  </a:moveTo>
                  <a:cubicBezTo>
                    <a:pt x="370" y="0"/>
                    <a:pt x="368" y="2"/>
                    <a:pt x="368" y="4"/>
                  </a:cubicBezTo>
                  <a:cubicBezTo>
                    <a:pt x="368" y="7"/>
                    <a:pt x="370" y="8"/>
                    <a:pt x="372" y="8"/>
                  </a:cubicBezTo>
                  <a:cubicBezTo>
                    <a:pt x="374" y="8"/>
                    <a:pt x="376" y="7"/>
                    <a:pt x="376" y="4"/>
                  </a:cubicBezTo>
                  <a:cubicBezTo>
                    <a:pt x="376" y="2"/>
                    <a:pt x="374" y="0"/>
                    <a:pt x="372" y="0"/>
                  </a:cubicBezTo>
                  <a:close/>
                  <a:moveTo>
                    <a:pt x="356" y="0"/>
                  </a:moveTo>
                  <a:cubicBezTo>
                    <a:pt x="354" y="0"/>
                    <a:pt x="352" y="2"/>
                    <a:pt x="352" y="4"/>
                  </a:cubicBezTo>
                  <a:cubicBezTo>
                    <a:pt x="352" y="7"/>
                    <a:pt x="354" y="8"/>
                    <a:pt x="356" y="8"/>
                  </a:cubicBezTo>
                  <a:cubicBezTo>
                    <a:pt x="358" y="8"/>
                    <a:pt x="360" y="7"/>
                    <a:pt x="360" y="4"/>
                  </a:cubicBezTo>
                  <a:cubicBezTo>
                    <a:pt x="360" y="2"/>
                    <a:pt x="358" y="0"/>
                    <a:pt x="356" y="0"/>
                  </a:cubicBezTo>
                  <a:close/>
                  <a:moveTo>
                    <a:pt x="388" y="0"/>
                  </a:moveTo>
                  <a:cubicBezTo>
                    <a:pt x="386" y="0"/>
                    <a:pt x="384" y="2"/>
                    <a:pt x="384" y="4"/>
                  </a:cubicBezTo>
                  <a:cubicBezTo>
                    <a:pt x="384" y="7"/>
                    <a:pt x="386" y="8"/>
                    <a:pt x="388" y="8"/>
                  </a:cubicBezTo>
                  <a:cubicBezTo>
                    <a:pt x="390" y="8"/>
                    <a:pt x="392" y="7"/>
                    <a:pt x="392" y="4"/>
                  </a:cubicBezTo>
                  <a:cubicBezTo>
                    <a:pt x="392" y="2"/>
                    <a:pt x="390" y="0"/>
                    <a:pt x="388" y="0"/>
                  </a:cubicBezTo>
                  <a:close/>
                  <a:moveTo>
                    <a:pt x="420" y="0"/>
                  </a:moveTo>
                  <a:cubicBezTo>
                    <a:pt x="418" y="0"/>
                    <a:pt x="416" y="2"/>
                    <a:pt x="416" y="4"/>
                  </a:cubicBezTo>
                  <a:cubicBezTo>
                    <a:pt x="416" y="7"/>
                    <a:pt x="418" y="8"/>
                    <a:pt x="420" y="8"/>
                  </a:cubicBezTo>
                  <a:cubicBezTo>
                    <a:pt x="422" y="8"/>
                    <a:pt x="424" y="7"/>
                    <a:pt x="424" y="4"/>
                  </a:cubicBezTo>
                  <a:cubicBezTo>
                    <a:pt x="424" y="2"/>
                    <a:pt x="422" y="0"/>
                    <a:pt x="420" y="0"/>
                  </a:cubicBezTo>
                  <a:close/>
                  <a:moveTo>
                    <a:pt x="404" y="0"/>
                  </a:moveTo>
                  <a:cubicBezTo>
                    <a:pt x="402" y="0"/>
                    <a:pt x="400" y="2"/>
                    <a:pt x="400" y="4"/>
                  </a:cubicBezTo>
                  <a:cubicBezTo>
                    <a:pt x="400" y="7"/>
                    <a:pt x="402" y="8"/>
                    <a:pt x="404" y="8"/>
                  </a:cubicBezTo>
                  <a:cubicBezTo>
                    <a:pt x="406" y="8"/>
                    <a:pt x="408" y="7"/>
                    <a:pt x="408" y="4"/>
                  </a:cubicBezTo>
                  <a:cubicBezTo>
                    <a:pt x="408" y="2"/>
                    <a:pt x="406" y="0"/>
                    <a:pt x="404" y="0"/>
                  </a:cubicBezTo>
                  <a:close/>
                  <a:moveTo>
                    <a:pt x="228" y="0"/>
                  </a:moveTo>
                  <a:cubicBezTo>
                    <a:pt x="226" y="0"/>
                    <a:pt x="224" y="2"/>
                    <a:pt x="224" y="4"/>
                  </a:cubicBezTo>
                  <a:cubicBezTo>
                    <a:pt x="224" y="7"/>
                    <a:pt x="226" y="8"/>
                    <a:pt x="228" y="8"/>
                  </a:cubicBezTo>
                  <a:cubicBezTo>
                    <a:pt x="230" y="8"/>
                    <a:pt x="232" y="7"/>
                    <a:pt x="232" y="4"/>
                  </a:cubicBezTo>
                  <a:cubicBezTo>
                    <a:pt x="232" y="2"/>
                    <a:pt x="230" y="0"/>
                    <a:pt x="228" y="0"/>
                  </a:cubicBezTo>
                  <a:close/>
                  <a:moveTo>
                    <a:pt x="260" y="0"/>
                  </a:moveTo>
                  <a:cubicBezTo>
                    <a:pt x="258" y="0"/>
                    <a:pt x="256" y="2"/>
                    <a:pt x="256" y="4"/>
                  </a:cubicBezTo>
                  <a:cubicBezTo>
                    <a:pt x="256" y="7"/>
                    <a:pt x="258" y="8"/>
                    <a:pt x="260" y="8"/>
                  </a:cubicBezTo>
                  <a:cubicBezTo>
                    <a:pt x="262" y="8"/>
                    <a:pt x="264" y="7"/>
                    <a:pt x="264" y="4"/>
                  </a:cubicBezTo>
                  <a:cubicBezTo>
                    <a:pt x="264" y="2"/>
                    <a:pt x="262" y="0"/>
                    <a:pt x="260" y="0"/>
                  </a:cubicBezTo>
                  <a:close/>
                  <a:moveTo>
                    <a:pt x="244" y="0"/>
                  </a:moveTo>
                  <a:cubicBezTo>
                    <a:pt x="242" y="0"/>
                    <a:pt x="240" y="2"/>
                    <a:pt x="240" y="4"/>
                  </a:cubicBezTo>
                  <a:cubicBezTo>
                    <a:pt x="240" y="7"/>
                    <a:pt x="242" y="8"/>
                    <a:pt x="244" y="8"/>
                  </a:cubicBezTo>
                  <a:cubicBezTo>
                    <a:pt x="246" y="8"/>
                    <a:pt x="248" y="7"/>
                    <a:pt x="248" y="4"/>
                  </a:cubicBezTo>
                  <a:cubicBezTo>
                    <a:pt x="248" y="2"/>
                    <a:pt x="246" y="0"/>
                    <a:pt x="244" y="0"/>
                  </a:cubicBezTo>
                  <a:close/>
                  <a:moveTo>
                    <a:pt x="276" y="0"/>
                  </a:moveTo>
                  <a:cubicBezTo>
                    <a:pt x="274" y="0"/>
                    <a:pt x="272" y="2"/>
                    <a:pt x="272" y="4"/>
                  </a:cubicBezTo>
                  <a:cubicBezTo>
                    <a:pt x="272" y="7"/>
                    <a:pt x="274" y="8"/>
                    <a:pt x="276" y="8"/>
                  </a:cubicBezTo>
                  <a:cubicBezTo>
                    <a:pt x="278" y="8"/>
                    <a:pt x="280" y="7"/>
                    <a:pt x="280" y="4"/>
                  </a:cubicBezTo>
                  <a:cubicBezTo>
                    <a:pt x="280" y="2"/>
                    <a:pt x="278" y="0"/>
                    <a:pt x="276" y="0"/>
                  </a:cubicBezTo>
                  <a:close/>
                  <a:moveTo>
                    <a:pt x="308" y="0"/>
                  </a:moveTo>
                  <a:cubicBezTo>
                    <a:pt x="306" y="0"/>
                    <a:pt x="304" y="2"/>
                    <a:pt x="304" y="4"/>
                  </a:cubicBezTo>
                  <a:cubicBezTo>
                    <a:pt x="304" y="7"/>
                    <a:pt x="306" y="8"/>
                    <a:pt x="308" y="8"/>
                  </a:cubicBezTo>
                  <a:cubicBezTo>
                    <a:pt x="310" y="8"/>
                    <a:pt x="312" y="7"/>
                    <a:pt x="312" y="4"/>
                  </a:cubicBezTo>
                  <a:cubicBezTo>
                    <a:pt x="312" y="2"/>
                    <a:pt x="310" y="0"/>
                    <a:pt x="308" y="0"/>
                  </a:cubicBezTo>
                  <a:close/>
                  <a:moveTo>
                    <a:pt x="324" y="0"/>
                  </a:moveTo>
                  <a:cubicBezTo>
                    <a:pt x="322" y="0"/>
                    <a:pt x="320" y="2"/>
                    <a:pt x="320" y="4"/>
                  </a:cubicBezTo>
                  <a:cubicBezTo>
                    <a:pt x="320" y="7"/>
                    <a:pt x="322" y="8"/>
                    <a:pt x="324" y="8"/>
                  </a:cubicBezTo>
                  <a:cubicBezTo>
                    <a:pt x="326" y="8"/>
                    <a:pt x="328" y="7"/>
                    <a:pt x="328" y="4"/>
                  </a:cubicBezTo>
                  <a:cubicBezTo>
                    <a:pt x="328" y="2"/>
                    <a:pt x="326" y="0"/>
                    <a:pt x="324" y="0"/>
                  </a:cubicBezTo>
                  <a:close/>
                  <a:moveTo>
                    <a:pt x="292" y="0"/>
                  </a:moveTo>
                  <a:cubicBezTo>
                    <a:pt x="290" y="0"/>
                    <a:pt x="288" y="2"/>
                    <a:pt x="288" y="4"/>
                  </a:cubicBezTo>
                  <a:cubicBezTo>
                    <a:pt x="288" y="7"/>
                    <a:pt x="290" y="8"/>
                    <a:pt x="292" y="8"/>
                  </a:cubicBezTo>
                  <a:cubicBezTo>
                    <a:pt x="294" y="8"/>
                    <a:pt x="296" y="7"/>
                    <a:pt x="296" y="4"/>
                  </a:cubicBezTo>
                  <a:cubicBezTo>
                    <a:pt x="296" y="2"/>
                    <a:pt x="294" y="0"/>
                    <a:pt x="2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 sz="900" spc="-3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2" name="Freeform 1155"/>
            <p:cNvSpPr/>
            <p:nvPr/>
          </p:nvSpPr>
          <p:spPr bwMode="auto">
            <a:xfrm>
              <a:off x="4271" y="2172"/>
              <a:ext cx="272" cy="270"/>
            </a:xfrm>
            <a:custGeom>
              <a:avLst/>
              <a:gdLst>
                <a:gd name="T0" fmla="*/ 114 w 130"/>
                <a:gd name="T1" fmla="*/ 93 h 129"/>
                <a:gd name="T2" fmla="*/ 93 w 130"/>
                <a:gd name="T3" fmla="*/ 15 h 129"/>
                <a:gd name="T4" fmla="*/ 16 w 130"/>
                <a:gd name="T5" fmla="*/ 36 h 129"/>
                <a:gd name="T6" fmla="*/ 37 w 130"/>
                <a:gd name="T7" fmla="*/ 114 h 129"/>
                <a:gd name="T8" fmla="*/ 114 w 130"/>
                <a:gd name="T9" fmla="*/ 9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29">
                  <a:moveTo>
                    <a:pt x="114" y="93"/>
                  </a:moveTo>
                  <a:cubicBezTo>
                    <a:pt x="130" y="66"/>
                    <a:pt x="120" y="31"/>
                    <a:pt x="93" y="15"/>
                  </a:cubicBezTo>
                  <a:cubicBezTo>
                    <a:pt x="66" y="0"/>
                    <a:pt x="32" y="9"/>
                    <a:pt x="16" y="36"/>
                  </a:cubicBezTo>
                  <a:cubicBezTo>
                    <a:pt x="0" y="63"/>
                    <a:pt x="10" y="98"/>
                    <a:pt x="37" y="114"/>
                  </a:cubicBezTo>
                  <a:cubicBezTo>
                    <a:pt x="64" y="129"/>
                    <a:pt x="98" y="120"/>
                    <a:pt x="114" y="93"/>
                  </a:cubicBezTo>
                  <a:close/>
                </a:path>
              </a:pathLst>
            </a:custGeom>
            <a:solidFill>
              <a:srgbClr val="035C9E"/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 sz="900" spc="-3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902585" y="1953895"/>
            <a:ext cx="1419225" cy="171450"/>
            <a:chOff x="4271" y="2172"/>
            <a:chExt cx="2235" cy="270"/>
          </a:xfrm>
        </p:grpSpPr>
        <p:sp>
          <p:nvSpPr>
            <p:cNvPr id="105" name="Freeform 1143"/>
            <p:cNvSpPr>
              <a:spLocks noEditPoints="1"/>
            </p:cNvSpPr>
            <p:nvPr/>
          </p:nvSpPr>
          <p:spPr bwMode="auto">
            <a:xfrm>
              <a:off x="4388" y="2284"/>
              <a:ext cx="2118" cy="40"/>
            </a:xfrm>
            <a:custGeom>
              <a:avLst/>
              <a:gdLst>
                <a:gd name="T0" fmla="*/ 148 w 424"/>
                <a:gd name="T1" fmla="*/ 8 h 8"/>
                <a:gd name="T2" fmla="*/ 132 w 424"/>
                <a:gd name="T3" fmla="*/ 0 h 8"/>
                <a:gd name="T4" fmla="*/ 136 w 424"/>
                <a:gd name="T5" fmla="*/ 4 h 8"/>
                <a:gd name="T6" fmla="*/ 176 w 424"/>
                <a:gd name="T7" fmla="*/ 4 h 8"/>
                <a:gd name="T8" fmla="*/ 180 w 424"/>
                <a:gd name="T9" fmla="*/ 0 h 8"/>
                <a:gd name="T10" fmla="*/ 212 w 424"/>
                <a:gd name="T11" fmla="*/ 8 h 8"/>
                <a:gd name="T12" fmla="*/ 196 w 424"/>
                <a:gd name="T13" fmla="*/ 0 h 8"/>
                <a:gd name="T14" fmla="*/ 200 w 424"/>
                <a:gd name="T15" fmla="*/ 4 h 8"/>
                <a:gd name="T16" fmla="*/ 112 w 424"/>
                <a:gd name="T17" fmla="*/ 4 h 8"/>
                <a:gd name="T18" fmla="*/ 116 w 424"/>
                <a:gd name="T19" fmla="*/ 0 h 8"/>
                <a:gd name="T20" fmla="*/ 164 w 424"/>
                <a:gd name="T21" fmla="*/ 8 h 8"/>
                <a:gd name="T22" fmla="*/ 20 w 424"/>
                <a:gd name="T23" fmla="*/ 0 h 8"/>
                <a:gd name="T24" fmla="*/ 24 w 424"/>
                <a:gd name="T25" fmla="*/ 4 h 8"/>
                <a:gd name="T26" fmla="*/ 96 w 424"/>
                <a:gd name="T27" fmla="*/ 4 h 8"/>
                <a:gd name="T28" fmla="*/ 100 w 424"/>
                <a:gd name="T29" fmla="*/ 0 h 8"/>
                <a:gd name="T30" fmla="*/ 4 w 424"/>
                <a:gd name="T31" fmla="*/ 8 h 8"/>
                <a:gd name="T32" fmla="*/ 36 w 424"/>
                <a:gd name="T33" fmla="*/ 0 h 8"/>
                <a:gd name="T34" fmla="*/ 40 w 424"/>
                <a:gd name="T35" fmla="*/ 4 h 8"/>
                <a:gd name="T36" fmla="*/ 80 w 424"/>
                <a:gd name="T37" fmla="*/ 4 h 8"/>
                <a:gd name="T38" fmla="*/ 84 w 424"/>
                <a:gd name="T39" fmla="*/ 0 h 8"/>
                <a:gd name="T40" fmla="*/ 68 w 424"/>
                <a:gd name="T41" fmla="*/ 8 h 8"/>
                <a:gd name="T42" fmla="*/ 52 w 424"/>
                <a:gd name="T43" fmla="*/ 0 h 8"/>
                <a:gd name="T44" fmla="*/ 56 w 424"/>
                <a:gd name="T45" fmla="*/ 4 h 8"/>
                <a:gd name="T46" fmla="*/ 336 w 424"/>
                <a:gd name="T47" fmla="*/ 4 h 8"/>
                <a:gd name="T48" fmla="*/ 340 w 424"/>
                <a:gd name="T49" fmla="*/ 0 h 8"/>
                <a:gd name="T50" fmla="*/ 372 w 424"/>
                <a:gd name="T51" fmla="*/ 8 h 8"/>
                <a:gd name="T52" fmla="*/ 356 w 424"/>
                <a:gd name="T53" fmla="*/ 0 h 8"/>
                <a:gd name="T54" fmla="*/ 360 w 424"/>
                <a:gd name="T55" fmla="*/ 4 h 8"/>
                <a:gd name="T56" fmla="*/ 384 w 424"/>
                <a:gd name="T57" fmla="*/ 4 h 8"/>
                <a:gd name="T58" fmla="*/ 388 w 424"/>
                <a:gd name="T59" fmla="*/ 0 h 8"/>
                <a:gd name="T60" fmla="*/ 420 w 424"/>
                <a:gd name="T61" fmla="*/ 8 h 8"/>
                <a:gd name="T62" fmla="*/ 404 w 424"/>
                <a:gd name="T63" fmla="*/ 0 h 8"/>
                <a:gd name="T64" fmla="*/ 408 w 424"/>
                <a:gd name="T65" fmla="*/ 4 h 8"/>
                <a:gd name="T66" fmla="*/ 224 w 424"/>
                <a:gd name="T67" fmla="*/ 4 h 8"/>
                <a:gd name="T68" fmla="*/ 228 w 424"/>
                <a:gd name="T69" fmla="*/ 0 h 8"/>
                <a:gd name="T70" fmla="*/ 260 w 424"/>
                <a:gd name="T71" fmla="*/ 8 h 8"/>
                <a:gd name="T72" fmla="*/ 244 w 424"/>
                <a:gd name="T73" fmla="*/ 0 h 8"/>
                <a:gd name="T74" fmla="*/ 248 w 424"/>
                <a:gd name="T75" fmla="*/ 4 h 8"/>
                <a:gd name="T76" fmla="*/ 272 w 424"/>
                <a:gd name="T77" fmla="*/ 4 h 8"/>
                <a:gd name="T78" fmla="*/ 276 w 424"/>
                <a:gd name="T79" fmla="*/ 0 h 8"/>
                <a:gd name="T80" fmla="*/ 308 w 424"/>
                <a:gd name="T81" fmla="*/ 8 h 8"/>
                <a:gd name="T82" fmla="*/ 324 w 424"/>
                <a:gd name="T83" fmla="*/ 0 h 8"/>
                <a:gd name="T84" fmla="*/ 328 w 424"/>
                <a:gd name="T85" fmla="*/ 4 h 8"/>
                <a:gd name="T86" fmla="*/ 288 w 424"/>
                <a:gd name="T87" fmla="*/ 4 h 8"/>
                <a:gd name="T88" fmla="*/ 292 w 424"/>
                <a:gd name="T8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24" h="8">
                  <a:moveTo>
                    <a:pt x="148" y="0"/>
                  </a:moveTo>
                  <a:cubicBezTo>
                    <a:pt x="146" y="0"/>
                    <a:pt x="144" y="2"/>
                    <a:pt x="144" y="4"/>
                  </a:cubicBezTo>
                  <a:cubicBezTo>
                    <a:pt x="144" y="7"/>
                    <a:pt x="146" y="8"/>
                    <a:pt x="148" y="8"/>
                  </a:cubicBezTo>
                  <a:cubicBezTo>
                    <a:pt x="150" y="8"/>
                    <a:pt x="152" y="7"/>
                    <a:pt x="152" y="4"/>
                  </a:cubicBezTo>
                  <a:cubicBezTo>
                    <a:pt x="152" y="2"/>
                    <a:pt x="150" y="0"/>
                    <a:pt x="148" y="0"/>
                  </a:cubicBezTo>
                  <a:close/>
                  <a:moveTo>
                    <a:pt x="132" y="0"/>
                  </a:moveTo>
                  <a:cubicBezTo>
                    <a:pt x="130" y="0"/>
                    <a:pt x="128" y="2"/>
                    <a:pt x="128" y="4"/>
                  </a:cubicBezTo>
                  <a:cubicBezTo>
                    <a:pt x="128" y="7"/>
                    <a:pt x="130" y="8"/>
                    <a:pt x="132" y="8"/>
                  </a:cubicBezTo>
                  <a:cubicBezTo>
                    <a:pt x="134" y="8"/>
                    <a:pt x="136" y="7"/>
                    <a:pt x="136" y="4"/>
                  </a:cubicBezTo>
                  <a:cubicBezTo>
                    <a:pt x="136" y="2"/>
                    <a:pt x="134" y="0"/>
                    <a:pt x="132" y="0"/>
                  </a:cubicBezTo>
                  <a:close/>
                  <a:moveTo>
                    <a:pt x="180" y="0"/>
                  </a:moveTo>
                  <a:cubicBezTo>
                    <a:pt x="178" y="0"/>
                    <a:pt x="176" y="2"/>
                    <a:pt x="176" y="4"/>
                  </a:cubicBezTo>
                  <a:cubicBezTo>
                    <a:pt x="176" y="7"/>
                    <a:pt x="178" y="8"/>
                    <a:pt x="180" y="8"/>
                  </a:cubicBezTo>
                  <a:cubicBezTo>
                    <a:pt x="182" y="8"/>
                    <a:pt x="184" y="7"/>
                    <a:pt x="184" y="4"/>
                  </a:cubicBezTo>
                  <a:cubicBezTo>
                    <a:pt x="184" y="2"/>
                    <a:pt x="182" y="0"/>
                    <a:pt x="180" y="0"/>
                  </a:cubicBezTo>
                  <a:close/>
                  <a:moveTo>
                    <a:pt x="212" y="0"/>
                  </a:moveTo>
                  <a:cubicBezTo>
                    <a:pt x="210" y="0"/>
                    <a:pt x="208" y="2"/>
                    <a:pt x="208" y="4"/>
                  </a:cubicBezTo>
                  <a:cubicBezTo>
                    <a:pt x="208" y="7"/>
                    <a:pt x="210" y="8"/>
                    <a:pt x="212" y="8"/>
                  </a:cubicBezTo>
                  <a:cubicBezTo>
                    <a:pt x="214" y="8"/>
                    <a:pt x="216" y="7"/>
                    <a:pt x="216" y="4"/>
                  </a:cubicBezTo>
                  <a:cubicBezTo>
                    <a:pt x="216" y="2"/>
                    <a:pt x="214" y="0"/>
                    <a:pt x="212" y="0"/>
                  </a:cubicBezTo>
                  <a:close/>
                  <a:moveTo>
                    <a:pt x="196" y="0"/>
                  </a:moveTo>
                  <a:cubicBezTo>
                    <a:pt x="194" y="0"/>
                    <a:pt x="192" y="2"/>
                    <a:pt x="192" y="4"/>
                  </a:cubicBezTo>
                  <a:cubicBezTo>
                    <a:pt x="192" y="7"/>
                    <a:pt x="194" y="8"/>
                    <a:pt x="196" y="8"/>
                  </a:cubicBezTo>
                  <a:cubicBezTo>
                    <a:pt x="198" y="8"/>
                    <a:pt x="200" y="7"/>
                    <a:pt x="200" y="4"/>
                  </a:cubicBezTo>
                  <a:cubicBezTo>
                    <a:pt x="200" y="2"/>
                    <a:pt x="198" y="0"/>
                    <a:pt x="196" y="0"/>
                  </a:cubicBezTo>
                  <a:close/>
                  <a:moveTo>
                    <a:pt x="116" y="0"/>
                  </a:moveTo>
                  <a:cubicBezTo>
                    <a:pt x="114" y="0"/>
                    <a:pt x="112" y="2"/>
                    <a:pt x="112" y="4"/>
                  </a:cubicBezTo>
                  <a:cubicBezTo>
                    <a:pt x="112" y="7"/>
                    <a:pt x="114" y="8"/>
                    <a:pt x="116" y="8"/>
                  </a:cubicBezTo>
                  <a:cubicBezTo>
                    <a:pt x="118" y="8"/>
                    <a:pt x="120" y="7"/>
                    <a:pt x="120" y="4"/>
                  </a:cubicBezTo>
                  <a:cubicBezTo>
                    <a:pt x="120" y="2"/>
                    <a:pt x="118" y="0"/>
                    <a:pt x="116" y="0"/>
                  </a:cubicBezTo>
                  <a:close/>
                  <a:moveTo>
                    <a:pt x="164" y="0"/>
                  </a:moveTo>
                  <a:cubicBezTo>
                    <a:pt x="162" y="0"/>
                    <a:pt x="160" y="2"/>
                    <a:pt x="160" y="4"/>
                  </a:cubicBezTo>
                  <a:cubicBezTo>
                    <a:pt x="160" y="7"/>
                    <a:pt x="162" y="8"/>
                    <a:pt x="164" y="8"/>
                  </a:cubicBezTo>
                  <a:cubicBezTo>
                    <a:pt x="166" y="8"/>
                    <a:pt x="168" y="7"/>
                    <a:pt x="168" y="4"/>
                  </a:cubicBezTo>
                  <a:cubicBezTo>
                    <a:pt x="168" y="2"/>
                    <a:pt x="166" y="0"/>
                    <a:pt x="164" y="0"/>
                  </a:cubicBezTo>
                  <a:close/>
                  <a:moveTo>
                    <a:pt x="20" y="0"/>
                  </a:moveTo>
                  <a:cubicBezTo>
                    <a:pt x="18" y="0"/>
                    <a:pt x="16" y="2"/>
                    <a:pt x="16" y="4"/>
                  </a:cubicBezTo>
                  <a:cubicBezTo>
                    <a:pt x="16" y="7"/>
                    <a:pt x="18" y="8"/>
                    <a:pt x="20" y="8"/>
                  </a:cubicBezTo>
                  <a:cubicBezTo>
                    <a:pt x="22" y="8"/>
                    <a:pt x="24" y="7"/>
                    <a:pt x="24" y="4"/>
                  </a:cubicBezTo>
                  <a:cubicBezTo>
                    <a:pt x="24" y="2"/>
                    <a:pt x="22" y="0"/>
                    <a:pt x="20" y="0"/>
                  </a:cubicBezTo>
                  <a:close/>
                  <a:moveTo>
                    <a:pt x="100" y="0"/>
                  </a:moveTo>
                  <a:cubicBezTo>
                    <a:pt x="98" y="0"/>
                    <a:pt x="96" y="2"/>
                    <a:pt x="96" y="4"/>
                  </a:cubicBezTo>
                  <a:cubicBezTo>
                    <a:pt x="96" y="7"/>
                    <a:pt x="98" y="8"/>
                    <a:pt x="100" y="8"/>
                  </a:cubicBezTo>
                  <a:cubicBezTo>
                    <a:pt x="102" y="8"/>
                    <a:pt x="104" y="7"/>
                    <a:pt x="104" y="4"/>
                  </a:cubicBezTo>
                  <a:cubicBezTo>
                    <a:pt x="104" y="2"/>
                    <a:pt x="102" y="0"/>
                    <a:pt x="100" y="0"/>
                  </a:cubicBezTo>
                  <a:close/>
                  <a:moveTo>
                    <a:pt x="4" y="0"/>
                  </a:move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8"/>
                    <a:pt x="4" y="8"/>
                  </a:cubicBezTo>
                  <a:cubicBezTo>
                    <a:pt x="6" y="8"/>
                    <a:pt x="8" y="7"/>
                    <a:pt x="8" y="4"/>
                  </a:cubicBezTo>
                  <a:cubicBezTo>
                    <a:pt x="8" y="2"/>
                    <a:pt x="6" y="0"/>
                    <a:pt x="4" y="0"/>
                  </a:cubicBezTo>
                  <a:close/>
                  <a:moveTo>
                    <a:pt x="36" y="0"/>
                  </a:moveTo>
                  <a:cubicBezTo>
                    <a:pt x="34" y="0"/>
                    <a:pt x="32" y="2"/>
                    <a:pt x="32" y="4"/>
                  </a:cubicBezTo>
                  <a:cubicBezTo>
                    <a:pt x="32" y="7"/>
                    <a:pt x="34" y="8"/>
                    <a:pt x="36" y="8"/>
                  </a:cubicBezTo>
                  <a:cubicBezTo>
                    <a:pt x="38" y="8"/>
                    <a:pt x="40" y="7"/>
                    <a:pt x="40" y="4"/>
                  </a:cubicBezTo>
                  <a:cubicBezTo>
                    <a:pt x="40" y="2"/>
                    <a:pt x="38" y="0"/>
                    <a:pt x="36" y="0"/>
                  </a:cubicBezTo>
                  <a:close/>
                  <a:moveTo>
                    <a:pt x="84" y="0"/>
                  </a:moveTo>
                  <a:cubicBezTo>
                    <a:pt x="82" y="0"/>
                    <a:pt x="80" y="2"/>
                    <a:pt x="80" y="4"/>
                  </a:cubicBezTo>
                  <a:cubicBezTo>
                    <a:pt x="80" y="7"/>
                    <a:pt x="82" y="8"/>
                    <a:pt x="84" y="8"/>
                  </a:cubicBezTo>
                  <a:cubicBezTo>
                    <a:pt x="86" y="8"/>
                    <a:pt x="88" y="7"/>
                    <a:pt x="88" y="4"/>
                  </a:cubicBezTo>
                  <a:cubicBezTo>
                    <a:pt x="88" y="2"/>
                    <a:pt x="86" y="0"/>
                    <a:pt x="84" y="0"/>
                  </a:cubicBezTo>
                  <a:close/>
                  <a:moveTo>
                    <a:pt x="68" y="0"/>
                  </a:moveTo>
                  <a:cubicBezTo>
                    <a:pt x="66" y="0"/>
                    <a:pt x="64" y="2"/>
                    <a:pt x="64" y="4"/>
                  </a:cubicBezTo>
                  <a:cubicBezTo>
                    <a:pt x="64" y="7"/>
                    <a:pt x="66" y="8"/>
                    <a:pt x="68" y="8"/>
                  </a:cubicBezTo>
                  <a:cubicBezTo>
                    <a:pt x="70" y="8"/>
                    <a:pt x="72" y="7"/>
                    <a:pt x="72" y="4"/>
                  </a:cubicBezTo>
                  <a:cubicBezTo>
                    <a:pt x="72" y="2"/>
                    <a:pt x="70" y="0"/>
                    <a:pt x="68" y="0"/>
                  </a:cubicBezTo>
                  <a:close/>
                  <a:moveTo>
                    <a:pt x="52" y="0"/>
                  </a:moveTo>
                  <a:cubicBezTo>
                    <a:pt x="50" y="0"/>
                    <a:pt x="48" y="2"/>
                    <a:pt x="48" y="4"/>
                  </a:cubicBezTo>
                  <a:cubicBezTo>
                    <a:pt x="48" y="7"/>
                    <a:pt x="50" y="8"/>
                    <a:pt x="52" y="8"/>
                  </a:cubicBezTo>
                  <a:cubicBezTo>
                    <a:pt x="54" y="8"/>
                    <a:pt x="56" y="7"/>
                    <a:pt x="56" y="4"/>
                  </a:cubicBezTo>
                  <a:cubicBezTo>
                    <a:pt x="56" y="2"/>
                    <a:pt x="54" y="0"/>
                    <a:pt x="52" y="0"/>
                  </a:cubicBezTo>
                  <a:close/>
                  <a:moveTo>
                    <a:pt x="340" y="0"/>
                  </a:moveTo>
                  <a:cubicBezTo>
                    <a:pt x="338" y="0"/>
                    <a:pt x="336" y="2"/>
                    <a:pt x="336" y="4"/>
                  </a:cubicBezTo>
                  <a:cubicBezTo>
                    <a:pt x="336" y="7"/>
                    <a:pt x="338" y="8"/>
                    <a:pt x="340" y="8"/>
                  </a:cubicBezTo>
                  <a:cubicBezTo>
                    <a:pt x="342" y="8"/>
                    <a:pt x="344" y="7"/>
                    <a:pt x="344" y="4"/>
                  </a:cubicBezTo>
                  <a:cubicBezTo>
                    <a:pt x="344" y="2"/>
                    <a:pt x="342" y="0"/>
                    <a:pt x="340" y="0"/>
                  </a:cubicBezTo>
                  <a:close/>
                  <a:moveTo>
                    <a:pt x="372" y="0"/>
                  </a:moveTo>
                  <a:cubicBezTo>
                    <a:pt x="370" y="0"/>
                    <a:pt x="368" y="2"/>
                    <a:pt x="368" y="4"/>
                  </a:cubicBezTo>
                  <a:cubicBezTo>
                    <a:pt x="368" y="7"/>
                    <a:pt x="370" y="8"/>
                    <a:pt x="372" y="8"/>
                  </a:cubicBezTo>
                  <a:cubicBezTo>
                    <a:pt x="374" y="8"/>
                    <a:pt x="376" y="7"/>
                    <a:pt x="376" y="4"/>
                  </a:cubicBezTo>
                  <a:cubicBezTo>
                    <a:pt x="376" y="2"/>
                    <a:pt x="374" y="0"/>
                    <a:pt x="372" y="0"/>
                  </a:cubicBezTo>
                  <a:close/>
                  <a:moveTo>
                    <a:pt x="356" y="0"/>
                  </a:moveTo>
                  <a:cubicBezTo>
                    <a:pt x="354" y="0"/>
                    <a:pt x="352" y="2"/>
                    <a:pt x="352" y="4"/>
                  </a:cubicBezTo>
                  <a:cubicBezTo>
                    <a:pt x="352" y="7"/>
                    <a:pt x="354" y="8"/>
                    <a:pt x="356" y="8"/>
                  </a:cubicBezTo>
                  <a:cubicBezTo>
                    <a:pt x="358" y="8"/>
                    <a:pt x="360" y="7"/>
                    <a:pt x="360" y="4"/>
                  </a:cubicBezTo>
                  <a:cubicBezTo>
                    <a:pt x="360" y="2"/>
                    <a:pt x="358" y="0"/>
                    <a:pt x="356" y="0"/>
                  </a:cubicBezTo>
                  <a:close/>
                  <a:moveTo>
                    <a:pt x="388" y="0"/>
                  </a:moveTo>
                  <a:cubicBezTo>
                    <a:pt x="386" y="0"/>
                    <a:pt x="384" y="2"/>
                    <a:pt x="384" y="4"/>
                  </a:cubicBezTo>
                  <a:cubicBezTo>
                    <a:pt x="384" y="7"/>
                    <a:pt x="386" y="8"/>
                    <a:pt x="388" y="8"/>
                  </a:cubicBezTo>
                  <a:cubicBezTo>
                    <a:pt x="390" y="8"/>
                    <a:pt x="392" y="7"/>
                    <a:pt x="392" y="4"/>
                  </a:cubicBezTo>
                  <a:cubicBezTo>
                    <a:pt x="392" y="2"/>
                    <a:pt x="390" y="0"/>
                    <a:pt x="388" y="0"/>
                  </a:cubicBezTo>
                  <a:close/>
                  <a:moveTo>
                    <a:pt x="420" y="0"/>
                  </a:moveTo>
                  <a:cubicBezTo>
                    <a:pt x="418" y="0"/>
                    <a:pt x="416" y="2"/>
                    <a:pt x="416" y="4"/>
                  </a:cubicBezTo>
                  <a:cubicBezTo>
                    <a:pt x="416" y="7"/>
                    <a:pt x="418" y="8"/>
                    <a:pt x="420" y="8"/>
                  </a:cubicBezTo>
                  <a:cubicBezTo>
                    <a:pt x="422" y="8"/>
                    <a:pt x="424" y="7"/>
                    <a:pt x="424" y="4"/>
                  </a:cubicBezTo>
                  <a:cubicBezTo>
                    <a:pt x="424" y="2"/>
                    <a:pt x="422" y="0"/>
                    <a:pt x="420" y="0"/>
                  </a:cubicBezTo>
                  <a:close/>
                  <a:moveTo>
                    <a:pt x="404" y="0"/>
                  </a:moveTo>
                  <a:cubicBezTo>
                    <a:pt x="402" y="0"/>
                    <a:pt x="400" y="2"/>
                    <a:pt x="400" y="4"/>
                  </a:cubicBezTo>
                  <a:cubicBezTo>
                    <a:pt x="400" y="7"/>
                    <a:pt x="402" y="8"/>
                    <a:pt x="404" y="8"/>
                  </a:cubicBezTo>
                  <a:cubicBezTo>
                    <a:pt x="406" y="8"/>
                    <a:pt x="408" y="7"/>
                    <a:pt x="408" y="4"/>
                  </a:cubicBezTo>
                  <a:cubicBezTo>
                    <a:pt x="408" y="2"/>
                    <a:pt x="406" y="0"/>
                    <a:pt x="404" y="0"/>
                  </a:cubicBezTo>
                  <a:close/>
                  <a:moveTo>
                    <a:pt x="228" y="0"/>
                  </a:moveTo>
                  <a:cubicBezTo>
                    <a:pt x="226" y="0"/>
                    <a:pt x="224" y="2"/>
                    <a:pt x="224" y="4"/>
                  </a:cubicBezTo>
                  <a:cubicBezTo>
                    <a:pt x="224" y="7"/>
                    <a:pt x="226" y="8"/>
                    <a:pt x="228" y="8"/>
                  </a:cubicBezTo>
                  <a:cubicBezTo>
                    <a:pt x="230" y="8"/>
                    <a:pt x="232" y="7"/>
                    <a:pt x="232" y="4"/>
                  </a:cubicBezTo>
                  <a:cubicBezTo>
                    <a:pt x="232" y="2"/>
                    <a:pt x="230" y="0"/>
                    <a:pt x="228" y="0"/>
                  </a:cubicBezTo>
                  <a:close/>
                  <a:moveTo>
                    <a:pt x="260" y="0"/>
                  </a:moveTo>
                  <a:cubicBezTo>
                    <a:pt x="258" y="0"/>
                    <a:pt x="256" y="2"/>
                    <a:pt x="256" y="4"/>
                  </a:cubicBezTo>
                  <a:cubicBezTo>
                    <a:pt x="256" y="7"/>
                    <a:pt x="258" y="8"/>
                    <a:pt x="260" y="8"/>
                  </a:cubicBezTo>
                  <a:cubicBezTo>
                    <a:pt x="262" y="8"/>
                    <a:pt x="264" y="7"/>
                    <a:pt x="264" y="4"/>
                  </a:cubicBezTo>
                  <a:cubicBezTo>
                    <a:pt x="264" y="2"/>
                    <a:pt x="262" y="0"/>
                    <a:pt x="260" y="0"/>
                  </a:cubicBezTo>
                  <a:close/>
                  <a:moveTo>
                    <a:pt x="244" y="0"/>
                  </a:moveTo>
                  <a:cubicBezTo>
                    <a:pt x="242" y="0"/>
                    <a:pt x="240" y="2"/>
                    <a:pt x="240" y="4"/>
                  </a:cubicBezTo>
                  <a:cubicBezTo>
                    <a:pt x="240" y="7"/>
                    <a:pt x="242" y="8"/>
                    <a:pt x="244" y="8"/>
                  </a:cubicBezTo>
                  <a:cubicBezTo>
                    <a:pt x="246" y="8"/>
                    <a:pt x="248" y="7"/>
                    <a:pt x="248" y="4"/>
                  </a:cubicBezTo>
                  <a:cubicBezTo>
                    <a:pt x="248" y="2"/>
                    <a:pt x="246" y="0"/>
                    <a:pt x="244" y="0"/>
                  </a:cubicBezTo>
                  <a:close/>
                  <a:moveTo>
                    <a:pt x="276" y="0"/>
                  </a:moveTo>
                  <a:cubicBezTo>
                    <a:pt x="274" y="0"/>
                    <a:pt x="272" y="2"/>
                    <a:pt x="272" y="4"/>
                  </a:cubicBezTo>
                  <a:cubicBezTo>
                    <a:pt x="272" y="7"/>
                    <a:pt x="274" y="8"/>
                    <a:pt x="276" y="8"/>
                  </a:cubicBezTo>
                  <a:cubicBezTo>
                    <a:pt x="278" y="8"/>
                    <a:pt x="280" y="7"/>
                    <a:pt x="280" y="4"/>
                  </a:cubicBezTo>
                  <a:cubicBezTo>
                    <a:pt x="280" y="2"/>
                    <a:pt x="278" y="0"/>
                    <a:pt x="276" y="0"/>
                  </a:cubicBezTo>
                  <a:close/>
                  <a:moveTo>
                    <a:pt x="308" y="0"/>
                  </a:moveTo>
                  <a:cubicBezTo>
                    <a:pt x="306" y="0"/>
                    <a:pt x="304" y="2"/>
                    <a:pt x="304" y="4"/>
                  </a:cubicBezTo>
                  <a:cubicBezTo>
                    <a:pt x="304" y="7"/>
                    <a:pt x="306" y="8"/>
                    <a:pt x="308" y="8"/>
                  </a:cubicBezTo>
                  <a:cubicBezTo>
                    <a:pt x="310" y="8"/>
                    <a:pt x="312" y="7"/>
                    <a:pt x="312" y="4"/>
                  </a:cubicBezTo>
                  <a:cubicBezTo>
                    <a:pt x="312" y="2"/>
                    <a:pt x="310" y="0"/>
                    <a:pt x="308" y="0"/>
                  </a:cubicBezTo>
                  <a:close/>
                  <a:moveTo>
                    <a:pt x="324" y="0"/>
                  </a:moveTo>
                  <a:cubicBezTo>
                    <a:pt x="322" y="0"/>
                    <a:pt x="320" y="2"/>
                    <a:pt x="320" y="4"/>
                  </a:cubicBezTo>
                  <a:cubicBezTo>
                    <a:pt x="320" y="7"/>
                    <a:pt x="322" y="8"/>
                    <a:pt x="324" y="8"/>
                  </a:cubicBezTo>
                  <a:cubicBezTo>
                    <a:pt x="326" y="8"/>
                    <a:pt x="328" y="7"/>
                    <a:pt x="328" y="4"/>
                  </a:cubicBezTo>
                  <a:cubicBezTo>
                    <a:pt x="328" y="2"/>
                    <a:pt x="326" y="0"/>
                    <a:pt x="324" y="0"/>
                  </a:cubicBezTo>
                  <a:close/>
                  <a:moveTo>
                    <a:pt x="292" y="0"/>
                  </a:moveTo>
                  <a:cubicBezTo>
                    <a:pt x="290" y="0"/>
                    <a:pt x="288" y="2"/>
                    <a:pt x="288" y="4"/>
                  </a:cubicBezTo>
                  <a:cubicBezTo>
                    <a:pt x="288" y="7"/>
                    <a:pt x="290" y="8"/>
                    <a:pt x="292" y="8"/>
                  </a:cubicBezTo>
                  <a:cubicBezTo>
                    <a:pt x="294" y="8"/>
                    <a:pt x="296" y="7"/>
                    <a:pt x="296" y="4"/>
                  </a:cubicBezTo>
                  <a:cubicBezTo>
                    <a:pt x="296" y="2"/>
                    <a:pt x="294" y="0"/>
                    <a:pt x="2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 sz="900" spc="-3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6" name="Freeform 1155"/>
            <p:cNvSpPr/>
            <p:nvPr/>
          </p:nvSpPr>
          <p:spPr bwMode="auto">
            <a:xfrm>
              <a:off x="4271" y="2172"/>
              <a:ext cx="272" cy="270"/>
            </a:xfrm>
            <a:custGeom>
              <a:avLst/>
              <a:gdLst>
                <a:gd name="T0" fmla="*/ 114 w 130"/>
                <a:gd name="T1" fmla="*/ 93 h 129"/>
                <a:gd name="T2" fmla="*/ 93 w 130"/>
                <a:gd name="T3" fmla="*/ 15 h 129"/>
                <a:gd name="T4" fmla="*/ 16 w 130"/>
                <a:gd name="T5" fmla="*/ 36 h 129"/>
                <a:gd name="T6" fmla="*/ 37 w 130"/>
                <a:gd name="T7" fmla="*/ 114 h 129"/>
                <a:gd name="T8" fmla="*/ 114 w 130"/>
                <a:gd name="T9" fmla="*/ 93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0" h="129">
                  <a:moveTo>
                    <a:pt x="114" y="93"/>
                  </a:moveTo>
                  <a:cubicBezTo>
                    <a:pt x="130" y="66"/>
                    <a:pt x="120" y="31"/>
                    <a:pt x="93" y="15"/>
                  </a:cubicBezTo>
                  <a:cubicBezTo>
                    <a:pt x="66" y="0"/>
                    <a:pt x="32" y="9"/>
                    <a:pt x="16" y="36"/>
                  </a:cubicBezTo>
                  <a:cubicBezTo>
                    <a:pt x="0" y="63"/>
                    <a:pt x="10" y="98"/>
                    <a:pt x="37" y="114"/>
                  </a:cubicBezTo>
                  <a:cubicBezTo>
                    <a:pt x="64" y="129"/>
                    <a:pt x="98" y="120"/>
                    <a:pt x="114" y="93"/>
                  </a:cubicBezTo>
                  <a:close/>
                </a:path>
              </a:pathLst>
            </a:custGeom>
            <a:solidFill>
              <a:srgbClr val="0271C2"/>
            </a:solidFill>
            <a:ln w="25400"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en-US" sz="900" spc="-3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15" name="Oval 1159"/>
          <p:cNvSpPr>
            <a:spLocks noChangeArrowheads="1"/>
          </p:cNvSpPr>
          <p:nvPr/>
        </p:nvSpPr>
        <p:spPr bwMode="auto">
          <a:xfrm>
            <a:off x="3994468" y="913766"/>
            <a:ext cx="573088" cy="574675"/>
          </a:xfrm>
          <a:prstGeom prst="ellipse">
            <a:avLst/>
          </a:prstGeom>
          <a:solidFill>
            <a:srgbClr val="0269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 sz="3600" spc="-3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6" name="Freeform 1160"/>
          <p:cNvSpPr>
            <a:spLocks noEditPoints="1"/>
          </p:cNvSpPr>
          <p:nvPr/>
        </p:nvSpPr>
        <p:spPr bwMode="auto">
          <a:xfrm>
            <a:off x="4159569" y="1028066"/>
            <a:ext cx="246063" cy="358775"/>
          </a:xfrm>
          <a:custGeom>
            <a:avLst/>
            <a:gdLst>
              <a:gd name="T0" fmla="*/ 22 w 78"/>
              <a:gd name="T1" fmla="*/ 98 h 113"/>
              <a:gd name="T2" fmla="*/ 23 w 78"/>
              <a:gd name="T3" fmla="*/ 104 h 113"/>
              <a:gd name="T4" fmla="*/ 28 w 78"/>
              <a:gd name="T5" fmla="*/ 107 h 113"/>
              <a:gd name="T6" fmla="*/ 29 w 78"/>
              <a:gd name="T7" fmla="*/ 110 h 113"/>
              <a:gd name="T8" fmla="*/ 39 w 78"/>
              <a:gd name="T9" fmla="*/ 113 h 113"/>
              <a:gd name="T10" fmla="*/ 48 w 78"/>
              <a:gd name="T11" fmla="*/ 110 h 113"/>
              <a:gd name="T12" fmla="*/ 49 w 78"/>
              <a:gd name="T13" fmla="*/ 107 h 113"/>
              <a:gd name="T14" fmla="*/ 54 w 78"/>
              <a:gd name="T15" fmla="*/ 104 h 113"/>
              <a:gd name="T16" fmla="*/ 55 w 78"/>
              <a:gd name="T17" fmla="*/ 98 h 113"/>
              <a:gd name="T18" fmla="*/ 39 w 78"/>
              <a:gd name="T19" fmla="*/ 100 h 113"/>
              <a:gd name="T20" fmla="*/ 22 w 78"/>
              <a:gd name="T21" fmla="*/ 98 h 113"/>
              <a:gd name="T22" fmla="*/ 21 w 78"/>
              <a:gd name="T23" fmla="*/ 87 h 113"/>
              <a:gd name="T24" fmla="*/ 21 w 78"/>
              <a:gd name="T25" fmla="*/ 92 h 113"/>
              <a:gd name="T26" fmla="*/ 39 w 78"/>
              <a:gd name="T27" fmla="*/ 96 h 113"/>
              <a:gd name="T28" fmla="*/ 56 w 78"/>
              <a:gd name="T29" fmla="*/ 93 h 113"/>
              <a:gd name="T30" fmla="*/ 57 w 78"/>
              <a:gd name="T31" fmla="*/ 87 h 113"/>
              <a:gd name="T32" fmla="*/ 39 w 78"/>
              <a:gd name="T33" fmla="*/ 90 h 113"/>
              <a:gd name="T34" fmla="*/ 21 w 78"/>
              <a:gd name="T35" fmla="*/ 87 h 113"/>
              <a:gd name="T36" fmla="*/ 47 w 78"/>
              <a:gd name="T37" fmla="*/ 53 h 113"/>
              <a:gd name="T38" fmla="*/ 39 w 78"/>
              <a:gd name="T39" fmla="*/ 37 h 113"/>
              <a:gd name="T40" fmla="*/ 30 w 78"/>
              <a:gd name="T41" fmla="*/ 53 h 113"/>
              <a:gd name="T42" fmla="*/ 26 w 78"/>
              <a:gd name="T43" fmla="*/ 45 h 113"/>
              <a:gd name="T44" fmla="*/ 21 w 78"/>
              <a:gd name="T45" fmla="*/ 48 h 113"/>
              <a:gd name="T46" fmla="*/ 30 w 78"/>
              <a:gd name="T47" fmla="*/ 66 h 113"/>
              <a:gd name="T48" fmla="*/ 39 w 78"/>
              <a:gd name="T49" fmla="*/ 50 h 113"/>
              <a:gd name="T50" fmla="*/ 48 w 78"/>
              <a:gd name="T51" fmla="*/ 66 h 113"/>
              <a:gd name="T52" fmla="*/ 56 w 78"/>
              <a:gd name="T53" fmla="*/ 48 h 113"/>
              <a:gd name="T54" fmla="*/ 51 w 78"/>
              <a:gd name="T55" fmla="*/ 45 h 113"/>
              <a:gd name="T56" fmla="*/ 47 w 78"/>
              <a:gd name="T57" fmla="*/ 53 h 113"/>
              <a:gd name="T58" fmla="*/ 39 w 78"/>
              <a:gd name="T59" fmla="*/ 0 h 113"/>
              <a:gd name="T60" fmla="*/ 0 w 78"/>
              <a:gd name="T61" fmla="*/ 39 h 113"/>
              <a:gd name="T62" fmla="*/ 18 w 78"/>
              <a:gd name="T63" fmla="*/ 72 h 113"/>
              <a:gd name="T64" fmla="*/ 20 w 78"/>
              <a:gd name="T65" fmla="*/ 82 h 113"/>
              <a:gd name="T66" fmla="*/ 39 w 78"/>
              <a:gd name="T67" fmla="*/ 85 h 113"/>
              <a:gd name="T68" fmla="*/ 57 w 78"/>
              <a:gd name="T69" fmla="*/ 82 h 113"/>
              <a:gd name="T70" fmla="*/ 59 w 78"/>
              <a:gd name="T71" fmla="*/ 72 h 113"/>
              <a:gd name="T72" fmla="*/ 78 w 78"/>
              <a:gd name="T73" fmla="*/ 39 h 113"/>
              <a:gd name="T74" fmla="*/ 39 w 78"/>
              <a:gd name="T75" fmla="*/ 0 h 113"/>
              <a:gd name="T76" fmla="*/ 53 w 78"/>
              <a:gd name="T77" fmla="*/ 67 h 113"/>
              <a:gd name="T78" fmla="*/ 52 w 78"/>
              <a:gd name="T79" fmla="*/ 76 h 113"/>
              <a:gd name="T80" fmla="*/ 39 w 78"/>
              <a:gd name="T81" fmla="*/ 78 h 113"/>
              <a:gd name="T82" fmla="*/ 25 w 78"/>
              <a:gd name="T83" fmla="*/ 76 h 113"/>
              <a:gd name="T84" fmla="*/ 24 w 78"/>
              <a:gd name="T85" fmla="*/ 67 h 113"/>
              <a:gd name="T86" fmla="*/ 7 w 78"/>
              <a:gd name="T87" fmla="*/ 39 h 113"/>
              <a:gd name="T88" fmla="*/ 39 w 78"/>
              <a:gd name="T89" fmla="*/ 6 h 113"/>
              <a:gd name="T90" fmla="*/ 71 w 78"/>
              <a:gd name="T91" fmla="*/ 39 h 113"/>
              <a:gd name="T92" fmla="*/ 53 w 78"/>
              <a:gd name="T93" fmla="*/ 67 h 113"/>
              <a:gd name="T94" fmla="*/ 39 w 78"/>
              <a:gd name="T95" fmla="*/ 16 h 113"/>
              <a:gd name="T96" fmla="*/ 41 w 78"/>
              <a:gd name="T97" fmla="*/ 14 h 113"/>
              <a:gd name="T98" fmla="*/ 39 w 78"/>
              <a:gd name="T99" fmla="*/ 11 h 113"/>
              <a:gd name="T100" fmla="*/ 12 w 78"/>
              <a:gd name="T101" fmla="*/ 39 h 113"/>
              <a:gd name="T102" fmla="*/ 14 w 78"/>
              <a:gd name="T103" fmla="*/ 41 h 113"/>
              <a:gd name="T104" fmla="*/ 16 w 78"/>
              <a:gd name="T105" fmla="*/ 39 h 113"/>
              <a:gd name="T106" fmla="*/ 39 w 78"/>
              <a:gd name="T107" fmla="*/ 16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78" h="113">
                <a:moveTo>
                  <a:pt x="22" y="98"/>
                </a:moveTo>
                <a:cubicBezTo>
                  <a:pt x="23" y="104"/>
                  <a:pt x="23" y="104"/>
                  <a:pt x="23" y="104"/>
                </a:cubicBezTo>
                <a:cubicBezTo>
                  <a:pt x="23" y="104"/>
                  <a:pt x="24" y="105"/>
                  <a:pt x="28" y="107"/>
                </a:cubicBezTo>
                <a:cubicBezTo>
                  <a:pt x="29" y="110"/>
                  <a:pt x="29" y="110"/>
                  <a:pt x="29" y="110"/>
                </a:cubicBezTo>
                <a:cubicBezTo>
                  <a:pt x="29" y="110"/>
                  <a:pt x="31" y="113"/>
                  <a:pt x="39" y="113"/>
                </a:cubicBezTo>
                <a:cubicBezTo>
                  <a:pt x="46" y="113"/>
                  <a:pt x="48" y="110"/>
                  <a:pt x="48" y="110"/>
                </a:cubicBezTo>
                <a:cubicBezTo>
                  <a:pt x="49" y="107"/>
                  <a:pt x="49" y="107"/>
                  <a:pt x="49" y="107"/>
                </a:cubicBezTo>
                <a:cubicBezTo>
                  <a:pt x="53" y="105"/>
                  <a:pt x="54" y="104"/>
                  <a:pt x="54" y="104"/>
                </a:cubicBezTo>
                <a:cubicBezTo>
                  <a:pt x="55" y="98"/>
                  <a:pt x="55" y="98"/>
                  <a:pt x="55" y="98"/>
                </a:cubicBezTo>
                <a:cubicBezTo>
                  <a:pt x="50" y="99"/>
                  <a:pt x="44" y="100"/>
                  <a:pt x="39" y="100"/>
                </a:cubicBezTo>
                <a:cubicBezTo>
                  <a:pt x="33" y="100"/>
                  <a:pt x="27" y="99"/>
                  <a:pt x="22" y="98"/>
                </a:cubicBezTo>
                <a:close/>
                <a:moveTo>
                  <a:pt x="21" y="87"/>
                </a:moveTo>
                <a:cubicBezTo>
                  <a:pt x="21" y="92"/>
                  <a:pt x="21" y="92"/>
                  <a:pt x="21" y="92"/>
                </a:cubicBezTo>
                <a:cubicBezTo>
                  <a:pt x="27" y="95"/>
                  <a:pt x="32" y="96"/>
                  <a:pt x="39" y="96"/>
                </a:cubicBezTo>
                <a:cubicBezTo>
                  <a:pt x="45" y="96"/>
                  <a:pt x="51" y="95"/>
                  <a:pt x="56" y="93"/>
                </a:cubicBezTo>
                <a:cubicBezTo>
                  <a:pt x="57" y="87"/>
                  <a:pt x="57" y="87"/>
                  <a:pt x="57" y="87"/>
                </a:cubicBezTo>
                <a:cubicBezTo>
                  <a:pt x="51" y="89"/>
                  <a:pt x="45" y="90"/>
                  <a:pt x="39" y="90"/>
                </a:cubicBezTo>
                <a:cubicBezTo>
                  <a:pt x="32" y="90"/>
                  <a:pt x="26" y="89"/>
                  <a:pt x="21" y="87"/>
                </a:cubicBezTo>
                <a:close/>
                <a:moveTo>
                  <a:pt x="47" y="53"/>
                </a:moveTo>
                <a:cubicBezTo>
                  <a:pt x="39" y="37"/>
                  <a:pt x="39" y="37"/>
                  <a:pt x="39" y="37"/>
                </a:cubicBezTo>
                <a:cubicBezTo>
                  <a:pt x="30" y="53"/>
                  <a:pt x="30" y="53"/>
                  <a:pt x="30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1" y="48"/>
                  <a:pt x="21" y="48"/>
                  <a:pt x="21" y="48"/>
                </a:cubicBezTo>
                <a:cubicBezTo>
                  <a:pt x="30" y="66"/>
                  <a:pt x="30" y="66"/>
                  <a:pt x="30" y="66"/>
                </a:cubicBezTo>
                <a:cubicBezTo>
                  <a:pt x="39" y="50"/>
                  <a:pt x="39" y="50"/>
                  <a:pt x="39" y="50"/>
                </a:cubicBezTo>
                <a:cubicBezTo>
                  <a:pt x="48" y="66"/>
                  <a:pt x="48" y="66"/>
                  <a:pt x="48" y="66"/>
                </a:cubicBezTo>
                <a:cubicBezTo>
                  <a:pt x="56" y="48"/>
                  <a:pt x="56" y="48"/>
                  <a:pt x="56" y="48"/>
                </a:cubicBezTo>
                <a:cubicBezTo>
                  <a:pt x="51" y="45"/>
                  <a:pt x="51" y="45"/>
                  <a:pt x="51" y="45"/>
                </a:cubicBezTo>
                <a:lnTo>
                  <a:pt x="47" y="53"/>
                </a:lnTo>
                <a:close/>
                <a:moveTo>
                  <a:pt x="39" y="0"/>
                </a:moveTo>
                <a:cubicBezTo>
                  <a:pt x="17" y="0"/>
                  <a:pt x="0" y="17"/>
                  <a:pt x="0" y="39"/>
                </a:cubicBezTo>
                <a:cubicBezTo>
                  <a:pt x="0" y="53"/>
                  <a:pt x="7" y="65"/>
                  <a:pt x="18" y="72"/>
                </a:cubicBezTo>
                <a:cubicBezTo>
                  <a:pt x="20" y="82"/>
                  <a:pt x="20" y="82"/>
                  <a:pt x="20" y="82"/>
                </a:cubicBezTo>
                <a:cubicBezTo>
                  <a:pt x="25" y="84"/>
                  <a:pt x="32" y="85"/>
                  <a:pt x="39" y="85"/>
                </a:cubicBezTo>
                <a:cubicBezTo>
                  <a:pt x="45" y="85"/>
                  <a:pt x="52" y="84"/>
                  <a:pt x="57" y="82"/>
                </a:cubicBezTo>
                <a:cubicBezTo>
                  <a:pt x="59" y="72"/>
                  <a:pt x="59" y="72"/>
                  <a:pt x="59" y="72"/>
                </a:cubicBezTo>
                <a:cubicBezTo>
                  <a:pt x="70" y="65"/>
                  <a:pt x="78" y="53"/>
                  <a:pt x="78" y="39"/>
                </a:cubicBezTo>
                <a:cubicBezTo>
                  <a:pt x="78" y="17"/>
                  <a:pt x="60" y="0"/>
                  <a:pt x="39" y="0"/>
                </a:cubicBezTo>
                <a:close/>
                <a:moveTo>
                  <a:pt x="53" y="67"/>
                </a:moveTo>
                <a:cubicBezTo>
                  <a:pt x="52" y="76"/>
                  <a:pt x="52" y="76"/>
                  <a:pt x="52" y="76"/>
                </a:cubicBezTo>
                <a:cubicBezTo>
                  <a:pt x="52" y="76"/>
                  <a:pt x="48" y="78"/>
                  <a:pt x="39" y="78"/>
                </a:cubicBezTo>
                <a:cubicBezTo>
                  <a:pt x="29" y="78"/>
                  <a:pt x="25" y="76"/>
                  <a:pt x="25" y="76"/>
                </a:cubicBezTo>
                <a:cubicBezTo>
                  <a:pt x="24" y="67"/>
                  <a:pt x="24" y="67"/>
                  <a:pt x="24" y="67"/>
                </a:cubicBezTo>
                <a:cubicBezTo>
                  <a:pt x="14" y="62"/>
                  <a:pt x="7" y="51"/>
                  <a:pt x="7" y="39"/>
                </a:cubicBezTo>
                <a:cubicBezTo>
                  <a:pt x="7" y="21"/>
                  <a:pt x="21" y="6"/>
                  <a:pt x="39" y="6"/>
                </a:cubicBezTo>
                <a:cubicBezTo>
                  <a:pt x="56" y="6"/>
                  <a:pt x="71" y="21"/>
                  <a:pt x="71" y="39"/>
                </a:cubicBezTo>
                <a:cubicBezTo>
                  <a:pt x="71" y="51"/>
                  <a:pt x="63" y="62"/>
                  <a:pt x="53" y="67"/>
                </a:cubicBezTo>
                <a:close/>
                <a:moveTo>
                  <a:pt x="39" y="16"/>
                </a:moveTo>
                <a:cubicBezTo>
                  <a:pt x="40" y="16"/>
                  <a:pt x="41" y="15"/>
                  <a:pt x="41" y="14"/>
                </a:cubicBezTo>
                <a:cubicBezTo>
                  <a:pt x="41" y="12"/>
                  <a:pt x="40" y="11"/>
                  <a:pt x="39" y="11"/>
                </a:cubicBezTo>
                <a:cubicBezTo>
                  <a:pt x="24" y="11"/>
                  <a:pt x="12" y="24"/>
                  <a:pt x="12" y="39"/>
                </a:cubicBezTo>
                <a:cubicBezTo>
                  <a:pt x="12" y="40"/>
                  <a:pt x="12" y="41"/>
                  <a:pt x="14" y="41"/>
                </a:cubicBezTo>
                <a:cubicBezTo>
                  <a:pt x="15" y="41"/>
                  <a:pt x="16" y="40"/>
                  <a:pt x="16" y="39"/>
                </a:cubicBezTo>
                <a:cubicBezTo>
                  <a:pt x="16" y="26"/>
                  <a:pt x="26" y="16"/>
                  <a:pt x="39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 sz="3600" spc="-3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7" name="Oval 1161"/>
          <p:cNvSpPr>
            <a:spLocks noChangeArrowheads="1"/>
          </p:cNvSpPr>
          <p:nvPr/>
        </p:nvSpPr>
        <p:spPr bwMode="auto">
          <a:xfrm>
            <a:off x="4284982" y="1748790"/>
            <a:ext cx="574675" cy="577850"/>
          </a:xfrm>
          <a:prstGeom prst="ellipse">
            <a:avLst/>
          </a:prstGeom>
          <a:solidFill>
            <a:srgbClr val="0269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 sz="3600" spc="-3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8" name="Freeform 1162"/>
          <p:cNvSpPr>
            <a:spLocks noEditPoints="1"/>
          </p:cNvSpPr>
          <p:nvPr/>
        </p:nvSpPr>
        <p:spPr bwMode="auto">
          <a:xfrm>
            <a:off x="4408807" y="1907541"/>
            <a:ext cx="327025" cy="276225"/>
          </a:xfrm>
          <a:custGeom>
            <a:avLst/>
            <a:gdLst>
              <a:gd name="T0" fmla="*/ 4 w 103"/>
              <a:gd name="T1" fmla="*/ 83 h 87"/>
              <a:gd name="T2" fmla="*/ 8 w 103"/>
              <a:gd name="T3" fmla="*/ 87 h 87"/>
              <a:gd name="T4" fmla="*/ 27 w 103"/>
              <a:gd name="T5" fmla="*/ 87 h 87"/>
              <a:gd name="T6" fmla="*/ 27 w 103"/>
              <a:gd name="T7" fmla="*/ 47 h 87"/>
              <a:gd name="T8" fmla="*/ 4 w 103"/>
              <a:gd name="T9" fmla="*/ 70 h 87"/>
              <a:gd name="T10" fmla="*/ 4 w 103"/>
              <a:gd name="T11" fmla="*/ 83 h 87"/>
              <a:gd name="T12" fmla="*/ 36 w 103"/>
              <a:gd name="T13" fmla="*/ 56 h 87"/>
              <a:gd name="T14" fmla="*/ 36 w 103"/>
              <a:gd name="T15" fmla="*/ 87 h 87"/>
              <a:gd name="T16" fmla="*/ 59 w 103"/>
              <a:gd name="T17" fmla="*/ 87 h 87"/>
              <a:gd name="T18" fmla="*/ 59 w 103"/>
              <a:gd name="T19" fmla="*/ 60 h 87"/>
              <a:gd name="T20" fmla="*/ 49 w 103"/>
              <a:gd name="T21" fmla="*/ 70 h 87"/>
              <a:gd name="T22" fmla="*/ 36 w 103"/>
              <a:gd name="T23" fmla="*/ 56 h 87"/>
              <a:gd name="T24" fmla="*/ 68 w 103"/>
              <a:gd name="T25" fmla="*/ 50 h 87"/>
              <a:gd name="T26" fmla="*/ 68 w 103"/>
              <a:gd name="T27" fmla="*/ 87 h 87"/>
              <a:gd name="T28" fmla="*/ 88 w 103"/>
              <a:gd name="T29" fmla="*/ 87 h 87"/>
              <a:gd name="T30" fmla="*/ 91 w 103"/>
              <a:gd name="T31" fmla="*/ 83 h 87"/>
              <a:gd name="T32" fmla="*/ 91 w 103"/>
              <a:gd name="T33" fmla="*/ 47 h 87"/>
              <a:gd name="T34" fmla="*/ 91 w 103"/>
              <a:gd name="T35" fmla="*/ 27 h 87"/>
              <a:gd name="T36" fmla="*/ 72 w 103"/>
              <a:gd name="T37" fmla="*/ 47 h 87"/>
              <a:gd name="T38" fmla="*/ 68 w 103"/>
              <a:gd name="T39" fmla="*/ 50 h 87"/>
              <a:gd name="T40" fmla="*/ 82 w 103"/>
              <a:gd name="T41" fmla="*/ 1 h 87"/>
              <a:gd name="T42" fmla="*/ 78 w 103"/>
              <a:gd name="T43" fmla="*/ 6 h 87"/>
              <a:gd name="T44" fmla="*/ 83 w 103"/>
              <a:gd name="T45" fmla="*/ 10 h 87"/>
              <a:gd name="T46" fmla="*/ 87 w 103"/>
              <a:gd name="T47" fmla="*/ 9 h 87"/>
              <a:gd name="T48" fmla="*/ 49 w 103"/>
              <a:gd name="T49" fmla="*/ 47 h 87"/>
              <a:gd name="T50" fmla="*/ 27 w 103"/>
              <a:gd name="T51" fmla="*/ 25 h 87"/>
              <a:gd name="T52" fmla="*/ 1 w 103"/>
              <a:gd name="T53" fmla="*/ 51 h 87"/>
              <a:gd name="T54" fmla="*/ 1 w 103"/>
              <a:gd name="T55" fmla="*/ 57 h 87"/>
              <a:gd name="T56" fmla="*/ 7 w 103"/>
              <a:gd name="T57" fmla="*/ 57 h 87"/>
              <a:gd name="T58" fmla="*/ 27 w 103"/>
              <a:gd name="T59" fmla="*/ 37 h 87"/>
              <a:gd name="T60" fmla="*/ 49 w 103"/>
              <a:gd name="T61" fmla="*/ 59 h 87"/>
              <a:gd name="T62" fmla="*/ 93 w 103"/>
              <a:gd name="T63" fmla="*/ 15 h 87"/>
              <a:gd name="T64" fmla="*/ 93 w 103"/>
              <a:gd name="T65" fmla="*/ 19 h 87"/>
              <a:gd name="T66" fmla="*/ 97 w 103"/>
              <a:gd name="T67" fmla="*/ 24 h 87"/>
              <a:gd name="T68" fmla="*/ 97 w 103"/>
              <a:gd name="T69" fmla="*/ 24 h 87"/>
              <a:gd name="T70" fmla="*/ 101 w 103"/>
              <a:gd name="T71" fmla="*/ 20 h 87"/>
              <a:gd name="T72" fmla="*/ 103 w 103"/>
              <a:gd name="T73" fmla="*/ 0 h 87"/>
              <a:gd name="T74" fmla="*/ 82 w 103"/>
              <a:gd name="T75" fmla="*/ 1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03" h="87">
                <a:moveTo>
                  <a:pt x="4" y="83"/>
                </a:moveTo>
                <a:cubicBezTo>
                  <a:pt x="4" y="85"/>
                  <a:pt x="6" y="87"/>
                  <a:pt x="8" y="87"/>
                </a:cubicBezTo>
                <a:cubicBezTo>
                  <a:pt x="27" y="87"/>
                  <a:pt x="27" y="87"/>
                  <a:pt x="27" y="87"/>
                </a:cubicBezTo>
                <a:cubicBezTo>
                  <a:pt x="27" y="47"/>
                  <a:pt x="27" y="47"/>
                  <a:pt x="27" y="47"/>
                </a:cubicBezTo>
                <a:cubicBezTo>
                  <a:pt x="4" y="70"/>
                  <a:pt x="4" y="70"/>
                  <a:pt x="4" y="70"/>
                </a:cubicBezTo>
                <a:lnTo>
                  <a:pt x="4" y="83"/>
                </a:lnTo>
                <a:close/>
                <a:moveTo>
                  <a:pt x="36" y="56"/>
                </a:moveTo>
                <a:cubicBezTo>
                  <a:pt x="36" y="87"/>
                  <a:pt x="36" y="87"/>
                  <a:pt x="36" y="87"/>
                </a:cubicBezTo>
                <a:cubicBezTo>
                  <a:pt x="59" y="87"/>
                  <a:pt x="59" y="87"/>
                  <a:pt x="59" y="87"/>
                </a:cubicBezTo>
                <a:cubicBezTo>
                  <a:pt x="59" y="60"/>
                  <a:pt x="59" y="60"/>
                  <a:pt x="59" y="60"/>
                </a:cubicBezTo>
                <a:cubicBezTo>
                  <a:pt x="49" y="70"/>
                  <a:pt x="49" y="70"/>
                  <a:pt x="49" y="70"/>
                </a:cubicBezTo>
                <a:lnTo>
                  <a:pt x="36" y="56"/>
                </a:lnTo>
                <a:close/>
                <a:moveTo>
                  <a:pt x="68" y="50"/>
                </a:moveTo>
                <a:cubicBezTo>
                  <a:pt x="68" y="87"/>
                  <a:pt x="68" y="87"/>
                  <a:pt x="68" y="87"/>
                </a:cubicBezTo>
                <a:cubicBezTo>
                  <a:pt x="88" y="87"/>
                  <a:pt x="88" y="87"/>
                  <a:pt x="88" y="87"/>
                </a:cubicBezTo>
                <a:cubicBezTo>
                  <a:pt x="90" y="87"/>
                  <a:pt x="91" y="85"/>
                  <a:pt x="91" y="83"/>
                </a:cubicBezTo>
                <a:cubicBezTo>
                  <a:pt x="91" y="47"/>
                  <a:pt x="91" y="47"/>
                  <a:pt x="91" y="47"/>
                </a:cubicBezTo>
                <a:cubicBezTo>
                  <a:pt x="91" y="27"/>
                  <a:pt x="91" y="27"/>
                  <a:pt x="91" y="27"/>
                </a:cubicBezTo>
                <a:cubicBezTo>
                  <a:pt x="72" y="47"/>
                  <a:pt x="72" y="47"/>
                  <a:pt x="72" y="47"/>
                </a:cubicBezTo>
                <a:lnTo>
                  <a:pt x="68" y="50"/>
                </a:lnTo>
                <a:close/>
                <a:moveTo>
                  <a:pt x="82" y="1"/>
                </a:moveTo>
                <a:cubicBezTo>
                  <a:pt x="80" y="2"/>
                  <a:pt x="78" y="4"/>
                  <a:pt x="78" y="6"/>
                </a:cubicBezTo>
                <a:cubicBezTo>
                  <a:pt x="79" y="8"/>
                  <a:pt x="81" y="10"/>
                  <a:pt x="83" y="10"/>
                </a:cubicBezTo>
                <a:cubicBezTo>
                  <a:pt x="87" y="9"/>
                  <a:pt x="87" y="9"/>
                  <a:pt x="87" y="9"/>
                </a:cubicBezTo>
                <a:cubicBezTo>
                  <a:pt x="49" y="47"/>
                  <a:pt x="49" y="47"/>
                  <a:pt x="49" y="47"/>
                </a:cubicBezTo>
                <a:cubicBezTo>
                  <a:pt x="27" y="25"/>
                  <a:pt x="27" y="25"/>
                  <a:pt x="27" y="25"/>
                </a:cubicBezTo>
                <a:cubicBezTo>
                  <a:pt x="1" y="51"/>
                  <a:pt x="1" y="51"/>
                  <a:pt x="1" y="51"/>
                </a:cubicBezTo>
                <a:cubicBezTo>
                  <a:pt x="0" y="52"/>
                  <a:pt x="0" y="55"/>
                  <a:pt x="1" y="57"/>
                </a:cubicBezTo>
                <a:cubicBezTo>
                  <a:pt x="3" y="58"/>
                  <a:pt x="5" y="58"/>
                  <a:pt x="7" y="57"/>
                </a:cubicBezTo>
                <a:cubicBezTo>
                  <a:pt x="27" y="37"/>
                  <a:pt x="27" y="37"/>
                  <a:pt x="27" y="37"/>
                </a:cubicBezTo>
                <a:cubicBezTo>
                  <a:pt x="49" y="59"/>
                  <a:pt x="49" y="59"/>
                  <a:pt x="49" y="59"/>
                </a:cubicBezTo>
                <a:cubicBezTo>
                  <a:pt x="93" y="15"/>
                  <a:pt x="93" y="15"/>
                  <a:pt x="93" y="15"/>
                </a:cubicBezTo>
                <a:cubicBezTo>
                  <a:pt x="93" y="19"/>
                  <a:pt x="93" y="19"/>
                  <a:pt x="93" y="19"/>
                </a:cubicBezTo>
                <a:cubicBezTo>
                  <a:pt x="93" y="22"/>
                  <a:pt x="94" y="24"/>
                  <a:pt x="97" y="24"/>
                </a:cubicBezTo>
                <a:cubicBezTo>
                  <a:pt x="97" y="24"/>
                  <a:pt x="97" y="24"/>
                  <a:pt x="97" y="24"/>
                </a:cubicBezTo>
                <a:cubicBezTo>
                  <a:pt x="99" y="24"/>
                  <a:pt x="101" y="22"/>
                  <a:pt x="101" y="20"/>
                </a:cubicBezTo>
                <a:cubicBezTo>
                  <a:pt x="103" y="0"/>
                  <a:pt x="103" y="0"/>
                  <a:pt x="103" y="0"/>
                </a:cubicBezTo>
                <a:lnTo>
                  <a:pt x="8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 sz="3600" spc="-3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9" name="Oval 1163"/>
          <p:cNvSpPr>
            <a:spLocks noChangeArrowheads="1"/>
          </p:cNvSpPr>
          <p:nvPr/>
        </p:nvSpPr>
        <p:spPr bwMode="auto">
          <a:xfrm>
            <a:off x="4955542" y="3401695"/>
            <a:ext cx="574675" cy="577850"/>
          </a:xfrm>
          <a:prstGeom prst="ellipse">
            <a:avLst/>
          </a:prstGeom>
          <a:solidFill>
            <a:srgbClr val="0269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 sz="3600" spc="-3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0" name="Freeform 1164"/>
          <p:cNvSpPr>
            <a:spLocks noEditPoints="1"/>
          </p:cNvSpPr>
          <p:nvPr/>
        </p:nvSpPr>
        <p:spPr bwMode="auto">
          <a:xfrm>
            <a:off x="5104766" y="3515996"/>
            <a:ext cx="279400" cy="352425"/>
          </a:xfrm>
          <a:custGeom>
            <a:avLst/>
            <a:gdLst>
              <a:gd name="T0" fmla="*/ 126 w 176"/>
              <a:gd name="T1" fmla="*/ 36 h 222"/>
              <a:gd name="T2" fmla="*/ 30 w 176"/>
              <a:gd name="T3" fmla="*/ 36 h 222"/>
              <a:gd name="T4" fmla="*/ 30 w 176"/>
              <a:gd name="T5" fmla="*/ 50 h 222"/>
              <a:gd name="T6" fmla="*/ 126 w 176"/>
              <a:gd name="T7" fmla="*/ 50 h 222"/>
              <a:gd name="T8" fmla="*/ 126 w 176"/>
              <a:gd name="T9" fmla="*/ 36 h 222"/>
              <a:gd name="T10" fmla="*/ 126 w 176"/>
              <a:gd name="T11" fmla="*/ 64 h 222"/>
              <a:gd name="T12" fmla="*/ 30 w 176"/>
              <a:gd name="T13" fmla="*/ 64 h 222"/>
              <a:gd name="T14" fmla="*/ 30 w 176"/>
              <a:gd name="T15" fmla="*/ 76 h 222"/>
              <a:gd name="T16" fmla="*/ 126 w 176"/>
              <a:gd name="T17" fmla="*/ 76 h 222"/>
              <a:gd name="T18" fmla="*/ 126 w 176"/>
              <a:gd name="T19" fmla="*/ 64 h 222"/>
              <a:gd name="T20" fmla="*/ 156 w 176"/>
              <a:gd name="T21" fmla="*/ 18 h 222"/>
              <a:gd name="T22" fmla="*/ 156 w 176"/>
              <a:gd name="T23" fmla="*/ 0 h 222"/>
              <a:gd name="T24" fmla="*/ 0 w 176"/>
              <a:gd name="T25" fmla="*/ 0 h 222"/>
              <a:gd name="T26" fmla="*/ 0 w 176"/>
              <a:gd name="T27" fmla="*/ 202 h 222"/>
              <a:gd name="T28" fmla="*/ 18 w 176"/>
              <a:gd name="T29" fmla="*/ 202 h 222"/>
              <a:gd name="T30" fmla="*/ 18 w 176"/>
              <a:gd name="T31" fmla="*/ 222 h 222"/>
              <a:gd name="T32" fmla="*/ 176 w 176"/>
              <a:gd name="T33" fmla="*/ 222 h 222"/>
              <a:gd name="T34" fmla="*/ 176 w 176"/>
              <a:gd name="T35" fmla="*/ 18 h 222"/>
              <a:gd name="T36" fmla="*/ 156 w 176"/>
              <a:gd name="T37" fmla="*/ 18 h 222"/>
              <a:gd name="T38" fmla="*/ 10 w 176"/>
              <a:gd name="T39" fmla="*/ 190 h 222"/>
              <a:gd name="T40" fmla="*/ 10 w 176"/>
              <a:gd name="T41" fmla="*/ 10 h 222"/>
              <a:gd name="T42" fmla="*/ 144 w 176"/>
              <a:gd name="T43" fmla="*/ 10 h 222"/>
              <a:gd name="T44" fmla="*/ 144 w 176"/>
              <a:gd name="T45" fmla="*/ 144 h 222"/>
              <a:gd name="T46" fmla="*/ 98 w 176"/>
              <a:gd name="T47" fmla="*/ 144 h 222"/>
              <a:gd name="T48" fmla="*/ 98 w 176"/>
              <a:gd name="T49" fmla="*/ 190 h 222"/>
              <a:gd name="T50" fmla="*/ 10 w 176"/>
              <a:gd name="T51" fmla="*/ 190 h 222"/>
              <a:gd name="T52" fmla="*/ 164 w 176"/>
              <a:gd name="T53" fmla="*/ 210 h 222"/>
              <a:gd name="T54" fmla="*/ 30 w 176"/>
              <a:gd name="T55" fmla="*/ 210 h 222"/>
              <a:gd name="T56" fmla="*/ 30 w 176"/>
              <a:gd name="T57" fmla="*/ 202 h 222"/>
              <a:gd name="T58" fmla="*/ 104 w 176"/>
              <a:gd name="T59" fmla="*/ 202 h 222"/>
              <a:gd name="T60" fmla="*/ 156 w 176"/>
              <a:gd name="T61" fmla="*/ 150 h 222"/>
              <a:gd name="T62" fmla="*/ 156 w 176"/>
              <a:gd name="T63" fmla="*/ 30 h 222"/>
              <a:gd name="T64" fmla="*/ 164 w 176"/>
              <a:gd name="T65" fmla="*/ 30 h 222"/>
              <a:gd name="T66" fmla="*/ 164 w 176"/>
              <a:gd name="T67" fmla="*/ 210 h 222"/>
              <a:gd name="T68" fmla="*/ 30 w 176"/>
              <a:gd name="T69" fmla="*/ 130 h 222"/>
              <a:gd name="T70" fmla="*/ 78 w 176"/>
              <a:gd name="T71" fmla="*/ 130 h 222"/>
              <a:gd name="T72" fmla="*/ 78 w 176"/>
              <a:gd name="T73" fmla="*/ 118 h 222"/>
              <a:gd name="T74" fmla="*/ 30 w 176"/>
              <a:gd name="T75" fmla="*/ 118 h 222"/>
              <a:gd name="T76" fmla="*/ 30 w 176"/>
              <a:gd name="T77" fmla="*/ 130 h 222"/>
              <a:gd name="T78" fmla="*/ 126 w 176"/>
              <a:gd name="T79" fmla="*/ 90 h 222"/>
              <a:gd name="T80" fmla="*/ 30 w 176"/>
              <a:gd name="T81" fmla="*/ 90 h 222"/>
              <a:gd name="T82" fmla="*/ 30 w 176"/>
              <a:gd name="T83" fmla="*/ 104 h 222"/>
              <a:gd name="T84" fmla="*/ 126 w 176"/>
              <a:gd name="T85" fmla="*/ 104 h 222"/>
              <a:gd name="T86" fmla="*/ 126 w 176"/>
              <a:gd name="T87" fmla="*/ 90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176" h="222">
                <a:moveTo>
                  <a:pt x="126" y="36"/>
                </a:moveTo>
                <a:lnTo>
                  <a:pt x="30" y="36"/>
                </a:lnTo>
                <a:lnTo>
                  <a:pt x="30" y="50"/>
                </a:lnTo>
                <a:lnTo>
                  <a:pt x="126" y="50"/>
                </a:lnTo>
                <a:lnTo>
                  <a:pt x="126" y="36"/>
                </a:lnTo>
                <a:close/>
                <a:moveTo>
                  <a:pt x="126" y="64"/>
                </a:moveTo>
                <a:lnTo>
                  <a:pt x="30" y="64"/>
                </a:lnTo>
                <a:lnTo>
                  <a:pt x="30" y="76"/>
                </a:lnTo>
                <a:lnTo>
                  <a:pt x="126" y="76"/>
                </a:lnTo>
                <a:lnTo>
                  <a:pt x="126" y="64"/>
                </a:lnTo>
                <a:close/>
                <a:moveTo>
                  <a:pt x="156" y="18"/>
                </a:moveTo>
                <a:lnTo>
                  <a:pt x="156" y="0"/>
                </a:lnTo>
                <a:lnTo>
                  <a:pt x="0" y="0"/>
                </a:lnTo>
                <a:lnTo>
                  <a:pt x="0" y="202"/>
                </a:lnTo>
                <a:lnTo>
                  <a:pt x="18" y="202"/>
                </a:lnTo>
                <a:lnTo>
                  <a:pt x="18" y="222"/>
                </a:lnTo>
                <a:lnTo>
                  <a:pt x="176" y="222"/>
                </a:lnTo>
                <a:lnTo>
                  <a:pt x="176" y="18"/>
                </a:lnTo>
                <a:lnTo>
                  <a:pt x="156" y="18"/>
                </a:lnTo>
                <a:close/>
                <a:moveTo>
                  <a:pt x="10" y="190"/>
                </a:moveTo>
                <a:lnTo>
                  <a:pt x="10" y="10"/>
                </a:lnTo>
                <a:lnTo>
                  <a:pt x="144" y="10"/>
                </a:lnTo>
                <a:lnTo>
                  <a:pt x="144" y="144"/>
                </a:lnTo>
                <a:lnTo>
                  <a:pt x="98" y="144"/>
                </a:lnTo>
                <a:lnTo>
                  <a:pt x="98" y="190"/>
                </a:lnTo>
                <a:lnTo>
                  <a:pt x="10" y="190"/>
                </a:lnTo>
                <a:close/>
                <a:moveTo>
                  <a:pt x="164" y="210"/>
                </a:moveTo>
                <a:lnTo>
                  <a:pt x="30" y="210"/>
                </a:lnTo>
                <a:lnTo>
                  <a:pt x="30" y="202"/>
                </a:lnTo>
                <a:lnTo>
                  <a:pt x="104" y="202"/>
                </a:lnTo>
                <a:lnTo>
                  <a:pt x="156" y="150"/>
                </a:lnTo>
                <a:lnTo>
                  <a:pt x="156" y="30"/>
                </a:lnTo>
                <a:lnTo>
                  <a:pt x="164" y="30"/>
                </a:lnTo>
                <a:lnTo>
                  <a:pt x="164" y="210"/>
                </a:lnTo>
                <a:close/>
                <a:moveTo>
                  <a:pt x="30" y="130"/>
                </a:moveTo>
                <a:lnTo>
                  <a:pt x="78" y="130"/>
                </a:lnTo>
                <a:lnTo>
                  <a:pt x="78" y="118"/>
                </a:lnTo>
                <a:lnTo>
                  <a:pt x="30" y="118"/>
                </a:lnTo>
                <a:lnTo>
                  <a:pt x="30" y="130"/>
                </a:lnTo>
                <a:close/>
                <a:moveTo>
                  <a:pt x="126" y="90"/>
                </a:moveTo>
                <a:lnTo>
                  <a:pt x="30" y="90"/>
                </a:lnTo>
                <a:lnTo>
                  <a:pt x="30" y="104"/>
                </a:lnTo>
                <a:lnTo>
                  <a:pt x="126" y="104"/>
                </a:lnTo>
                <a:lnTo>
                  <a:pt x="126" y="9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 sz="3600" spc="-3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1" name="Oval 1165"/>
          <p:cNvSpPr>
            <a:spLocks noChangeArrowheads="1"/>
          </p:cNvSpPr>
          <p:nvPr/>
        </p:nvSpPr>
        <p:spPr bwMode="auto">
          <a:xfrm>
            <a:off x="4596132" y="2589530"/>
            <a:ext cx="574675" cy="577850"/>
          </a:xfrm>
          <a:prstGeom prst="ellipse">
            <a:avLst/>
          </a:prstGeom>
          <a:solidFill>
            <a:srgbClr val="0269B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 sz="3600" spc="-3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2" name="Freeform 1166"/>
          <p:cNvSpPr>
            <a:spLocks noEditPoints="1"/>
          </p:cNvSpPr>
          <p:nvPr/>
        </p:nvSpPr>
        <p:spPr bwMode="auto">
          <a:xfrm>
            <a:off x="4735831" y="2719706"/>
            <a:ext cx="292100" cy="288925"/>
          </a:xfrm>
          <a:custGeom>
            <a:avLst/>
            <a:gdLst>
              <a:gd name="T0" fmla="*/ 90 w 92"/>
              <a:gd name="T1" fmla="*/ 28 h 91"/>
              <a:gd name="T2" fmla="*/ 50 w 92"/>
              <a:gd name="T3" fmla="*/ 1 h 91"/>
              <a:gd name="T4" fmla="*/ 43 w 92"/>
              <a:gd name="T5" fmla="*/ 1 h 91"/>
              <a:gd name="T6" fmla="*/ 3 w 92"/>
              <a:gd name="T7" fmla="*/ 28 h 91"/>
              <a:gd name="T8" fmla="*/ 0 w 92"/>
              <a:gd name="T9" fmla="*/ 33 h 91"/>
              <a:gd name="T10" fmla="*/ 0 w 92"/>
              <a:gd name="T11" fmla="*/ 85 h 91"/>
              <a:gd name="T12" fmla="*/ 6 w 92"/>
              <a:gd name="T13" fmla="*/ 91 h 91"/>
              <a:gd name="T14" fmla="*/ 87 w 92"/>
              <a:gd name="T15" fmla="*/ 91 h 91"/>
              <a:gd name="T16" fmla="*/ 92 w 92"/>
              <a:gd name="T17" fmla="*/ 85 h 91"/>
              <a:gd name="T18" fmla="*/ 92 w 92"/>
              <a:gd name="T19" fmla="*/ 33 h 91"/>
              <a:gd name="T20" fmla="*/ 90 w 92"/>
              <a:gd name="T21" fmla="*/ 28 h 91"/>
              <a:gd name="T22" fmla="*/ 87 w 92"/>
              <a:gd name="T23" fmla="*/ 41 h 91"/>
              <a:gd name="T24" fmla="*/ 46 w 92"/>
              <a:gd name="T25" fmla="*/ 69 h 91"/>
              <a:gd name="T26" fmla="*/ 6 w 92"/>
              <a:gd name="T27" fmla="*/ 41 h 91"/>
              <a:gd name="T28" fmla="*/ 6 w 92"/>
              <a:gd name="T29" fmla="*/ 36 h 91"/>
              <a:gd name="T30" fmla="*/ 9 w 92"/>
              <a:gd name="T31" fmla="*/ 33 h 91"/>
              <a:gd name="T32" fmla="*/ 84 w 92"/>
              <a:gd name="T33" fmla="*/ 33 h 91"/>
              <a:gd name="T34" fmla="*/ 87 w 92"/>
              <a:gd name="T35" fmla="*/ 36 h 91"/>
              <a:gd name="T36" fmla="*/ 87 w 92"/>
              <a:gd name="T37" fmla="*/ 41 h 91"/>
              <a:gd name="T38" fmla="*/ 33 w 92"/>
              <a:gd name="T39" fmla="*/ 54 h 91"/>
              <a:gd name="T40" fmla="*/ 60 w 92"/>
              <a:gd name="T41" fmla="*/ 54 h 91"/>
              <a:gd name="T42" fmla="*/ 66 w 92"/>
              <a:gd name="T43" fmla="*/ 50 h 91"/>
              <a:gd name="T44" fmla="*/ 26 w 92"/>
              <a:gd name="T45" fmla="*/ 50 h 91"/>
              <a:gd name="T46" fmla="*/ 33 w 92"/>
              <a:gd name="T47" fmla="*/ 54 h 91"/>
              <a:gd name="T48" fmla="*/ 46 w 92"/>
              <a:gd name="T49" fmla="*/ 63 h 91"/>
              <a:gd name="T50" fmla="*/ 47 w 92"/>
              <a:gd name="T51" fmla="*/ 63 h 91"/>
              <a:gd name="T52" fmla="*/ 54 w 92"/>
              <a:gd name="T53" fmla="*/ 59 h 91"/>
              <a:gd name="T54" fmla="*/ 39 w 92"/>
              <a:gd name="T55" fmla="*/ 59 h 91"/>
              <a:gd name="T56" fmla="*/ 46 w 92"/>
              <a:gd name="T57" fmla="*/ 63 h 91"/>
              <a:gd name="T58" fmla="*/ 19 w 92"/>
              <a:gd name="T59" fmla="*/ 45 h 91"/>
              <a:gd name="T60" fmla="*/ 20 w 92"/>
              <a:gd name="T61" fmla="*/ 46 h 91"/>
              <a:gd name="T62" fmla="*/ 73 w 92"/>
              <a:gd name="T63" fmla="*/ 46 h 91"/>
              <a:gd name="T64" fmla="*/ 74 w 92"/>
              <a:gd name="T65" fmla="*/ 45 h 91"/>
              <a:gd name="T66" fmla="*/ 74 w 92"/>
              <a:gd name="T67" fmla="*/ 41 h 91"/>
              <a:gd name="T68" fmla="*/ 19 w 92"/>
              <a:gd name="T69" fmla="*/ 41 h 91"/>
              <a:gd name="T70" fmla="*/ 19 w 92"/>
              <a:gd name="T71" fmla="*/ 45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2" h="91">
                <a:moveTo>
                  <a:pt x="90" y="28"/>
                </a:moveTo>
                <a:cubicBezTo>
                  <a:pt x="50" y="1"/>
                  <a:pt x="50" y="1"/>
                  <a:pt x="50" y="1"/>
                </a:cubicBezTo>
                <a:cubicBezTo>
                  <a:pt x="48" y="0"/>
                  <a:pt x="45" y="0"/>
                  <a:pt x="43" y="1"/>
                </a:cubicBezTo>
                <a:cubicBezTo>
                  <a:pt x="3" y="28"/>
                  <a:pt x="3" y="28"/>
                  <a:pt x="3" y="28"/>
                </a:cubicBezTo>
                <a:cubicBezTo>
                  <a:pt x="1" y="29"/>
                  <a:pt x="0" y="31"/>
                  <a:pt x="0" y="33"/>
                </a:cubicBezTo>
                <a:cubicBezTo>
                  <a:pt x="0" y="85"/>
                  <a:pt x="0" y="85"/>
                  <a:pt x="0" y="85"/>
                </a:cubicBezTo>
                <a:cubicBezTo>
                  <a:pt x="0" y="88"/>
                  <a:pt x="3" y="91"/>
                  <a:pt x="6" y="91"/>
                </a:cubicBezTo>
                <a:cubicBezTo>
                  <a:pt x="87" y="91"/>
                  <a:pt x="87" y="91"/>
                  <a:pt x="87" y="91"/>
                </a:cubicBezTo>
                <a:cubicBezTo>
                  <a:pt x="90" y="91"/>
                  <a:pt x="92" y="88"/>
                  <a:pt x="92" y="85"/>
                </a:cubicBezTo>
                <a:cubicBezTo>
                  <a:pt x="92" y="33"/>
                  <a:pt x="92" y="33"/>
                  <a:pt x="92" y="33"/>
                </a:cubicBezTo>
                <a:cubicBezTo>
                  <a:pt x="92" y="31"/>
                  <a:pt x="92" y="29"/>
                  <a:pt x="90" y="28"/>
                </a:cubicBezTo>
                <a:close/>
                <a:moveTo>
                  <a:pt x="87" y="41"/>
                </a:moveTo>
                <a:cubicBezTo>
                  <a:pt x="46" y="69"/>
                  <a:pt x="46" y="69"/>
                  <a:pt x="46" y="69"/>
                </a:cubicBezTo>
                <a:cubicBezTo>
                  <a:pt x="6" y="41"/>
                  <a:pt x="6" y="41"/>
                  <a:pt x="6" y="41"/>
                </a:cubicBezTo>
                <a:cubicBezTo>
                  <a:pt x="6" y="36"/>
                  <a:pt x="6" y="36"/>
                  <a:pt x="6" y="36"/>
                </a:cubicBezTo>
                <a:cubicBezTo>
                  <a:pt x="6" y="34"/>
                  <a:pt x="7" y="33"/>
                  <a:pt x="9" y="33"/>
                </a:cubicBezTo>
                <a:cubicBezTo>
                  <a:pt x="84" y="33"/>
                  <a:pt x="84" y="33"/>
                  <a:pt x="84" y="33"/>
                </a:cubicBezTo>
                <a:cubicBezTo>
                  <a:pt x="85" y="33"/>
                  <a:pt x="87" y="34"/>
                  <a:pt x="87" y="36"/>
                </a:cubicBezTo>
                <a:lnTo>
                  <a:pt x="87" y="41"/>
                </a:lnTo>
                <a:close/>
                <a:moveTo>
                  <a:pt x="33" y="54"/>
                </a:moveTo>
                <a:cubicBezTo>
                  <a:pt x="60" y="54"/>
                  <a:pt x="60" y="54"/>
                  <a:pt x="60" y="54"/>
                </a:cubicBezTo>
                <a:cubicBezTo>
                  <a:pt x="66" y="50"/>
                  <a:pt x="66" y="50"/>
                  <a:pt x="66" y="50"/>
                </a:cubicBezTo>
                <a:cubicBezTo>
                  <a:pt x="26" y="50"/>
                  <a:pt x="26" y="50"/>
                  <a:pt x="26" y="50"/>
                </a:cubicBezTo>
                <a:lnTo>
                  <a:pt x="33" y="54"/>
                </a:lnTo>
                <a:close/>
                <a:moveTo>
                  <a:pt x="46" y="63"/>
                </a:moveTo>
                <a:cubicBezTo>
                  <a:pt x="47" y="63"/>
                  <a:pt x="47" y="63"/>
                  <a:pt x="47" y="63"/>
                </a:cubicBezTo>
                <a:cubicBezTo>
                  <a:pt x="54" y="59"/>
                  <a:pt x="54" y="59"/>
                  <a:pt x="54" y="59"/>
                </a:cubicBezTo>
                <a:cubicBezTo>
                  <a:pt x="39" y="59"/>
                  <a:pt x="39" y="59"/>
                  <a:pt x="39" y="59"/>
                </a:cubicBezTo>
                <a:lnTo>
                  <a:pt x="46" y="63"/>
                </a:lnTo>
                <a:close/>
                <a:moveTo>
                  <a:pt x="19" y="45"/>
                </a:moveTo>
                <a:cubicBezTo>
                  <a:pt x="20" y="46"/>
                  <a:pt x="20" y="46"/>
                  <a:pt x="20" y="46"/>
                </a:cubicBezTo>
                <a:cubicBezTo>
                  <a:pt x="73" y="46"/>
                  <a:pt x="73" y="46"/>
                  <a:pt x="73" y="46"/>
                </a:cubicBezTo>
                <a:cubicBezTo>
                  <a:pt x="74" y="45"/>
                  <a:pt x="74" y="45"/>
                  <a:pt x="74" y="45"/>
                </a:cubicBezTo>
                <a:cubicBezTo>
                  <a:pt x="74" y="41"/>
                  <a:pt x="74" y="41"/>
                  <a:pt x="74" y="41"/>
                </a:cubicBezTo>
                <a:cubicBezTo>
                  <a:pt x="19" y="41"/>
                  <a:pt x="19" y="41"/>
                  <a:pt x="19" y="41"/>
                </a:cubicBezTo>
                <a:lnTo>
                  <a:pt x="19" y="4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en-US" sz="3600" spc="-3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39" name="组合 138"/>
          <p:cNvGrpSpPr/>
          <p:nvPr/>
        </p:nvGrpSpPr>
        <p:grpSpPr>
          <a:xfrm>
            <a:off x="4855829" y="906464"/>
            <a:ext cx="3893201" cy="737870"/>
            <a:chOff x="7647" y="1263"/>
            <a:chExt cx="6131" cy="1162"/>
          </a:xfrm>
        </p:grpSpPr>
        <p:cxnSp>
          <p:nvCxnSpPr>
            <p:cNvPr id="124" name="Straight Connector 9"/>
            <p:cNvCxnSpPr/>
            <p:nvPr/>
          </p:nvCxnSpPr>
          <p:spPr>
            <a:xfrm>
              <a:off x="7647" y="1370"/>
              <a:ext cx="0" cy="802"/>
            </a:xfrm>
            <a:prstGeom prst="line">
              <a:avLst/>
            </a:prstGeom>
            <a:ln w="12700" cap="rnd">
              <a:solidFill>
                <a:srgbClr val="C7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矩形 33"/>
            <p:cNvSpPr>
              <a:spLocks noChangeArrowheads="1"/>
            </p:cNvSpPr>
            <p:nvPr/>
          </p:nvSpPr>
          <p:spPr bwMode="auto">
            <a:xfrm>
              <a:off x="7647" y="1841"/>
              <a:ext cx="6131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15000"/>
                </a:lnSpc>
              </a:pPr>
              <a:r>
                <a:rPr sz="800" b="0">
                  <a:solidFill>
                    <a:srgbClr val="6B7B8C"/>
                  </a:solidFill>
                  <a:latin typeface="微软雅黑"/>
                </a:rPr>
                <a:t>三个结构性问题、五项研究内容与技术路线</a:t>
              </a:r>
              <a:endPara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2" name="文本框 34"/>
            <p:cNvSpPr txBox="1">
              <a:spLocks noChangeArrowheads="1"/>
            </p:cNvSpPr>
            <p:nvPr/>
          </p:nvSpPr>
          <p:spPr bwMode="auto">
            <a:xfrm>
              <a:off x="7647" y="1263"/>
              <a:ext cx="476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sz="1700" b="1">
                  <a:solidFill>
                    <a:srgbClr val="212A4D"/>
                  </a:solidFill>
                  <a:latin typeface="微软雅黑"/>
                </a:rPr>
                <a:t>01  研究背景与目标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5159066" y="1735139"/>
            <a:ext cx="3893494" cy="737235"/>
            <a:chOff x="8125" y="2705"/>
            <a:chExt cx="6131" cy="1161"/>
          </a:xfrm>
        </p:grpSpPr>
        <p:cxnSp>
          <p:nvCxnSpPr>
            <p:cNvPr id="125" name="Straight Connector 21"/>
            <p:cNvCxnSpPr/>
            <p:nvPr/>
          </p:nvCxnSpPr>
          <p:spPr>
            <a:xfrm>
              <a:off x="8125" y="2850"/>
              <a:ext cx="0" cy="802"/>
            </a:xfrm>
            <a:prstGeom prst="line">
              <a:avLst/>
            </a:prstGeom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矩形 33"/>
            <p:cNvSpPr>
              <a:spLocks noChangeArrowheads="1"/>
            </p:cNvSpPr>
            <p:nvPr/>
          </p:nvSpPr>
          <p:spPr bwMode="auto">
            <a:xfrm>
              <a:off x="8125" y="3282"/>
              <a:ext cx="6131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15000"/>
                </a:lnSpc>
              </a:pPr>
              <a:r>
                <a:rPr sz="800" b="0">
                  <a:solidFill>
                    <a:srgbClr val="6B7B8C"/>
                  </a:solidFill>
                  <a:latin typeface="微软雅黑"/>
                </a:rPr>
                <a:t>计算内核、模型联动、成果派生、规范知识与 AI</a:t>
              </a:r>
              <a:endPara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4" name="文本框 34"/>
            <p:cNvSpPr txBox="1">
              <a:spLocks noChangeArrowheads="1"/>
            </p:cNvSpPr>
            <p:nvPr/>
          </p:nvSpPr>
          <p:spPr bwMode="auto">
            <a:xfrm>
              <a:off x="8125" y="2705"/>
              <a:ext cx="476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sz="1700" b="1">
                  <a:solidFill>
                    <a:srgbClr val="212A4D"/>
                  </a:solidFill>
                  <a:latin typeface="微软雅黑"/>
                </a:rPr>
                <a:t>02  技术方案与实现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0" name="组合 139"/>
          <p:cNvGrpSpPr/>
          <p:nvPr/>
        </p:nvGrpSpPr>
        <p:grpSpPr>
          <a:xfrm>
            <a:off x="5530215" y="2563179"/>
            <a:ext cx="3613785" cy="737870"/>
            <a:chOff x="7647" y="1263"/>
            <a:chExt cx="5691" cy="1162"/>
          </a:xfrm>
        </p:grpSpPr>
        <p:cxnSp>
          <p:nvCxnSpPr>
            <p:cNvPr id="141" name="Straight Connector 9"/>
            <p:cNvCxnSpPr/>
            <p:nvPr/>
          </p:nvCxnSpPr>
          <p:spPr>
            <a:xfrm>
              <a:off x="7647" y="1370"/>
              <a:ext cx="0" cy="802"/>
            </a:xfrm>
            <a:prstGeom prst="line">
              <a:avLst/>
            </a:prstGeom>
            <a:ln w="12700" cap="rnd">
              <a:solidFill>
                <a:srgbClr val="C75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矩形 33"/>
            <p:cNvSpPr>
              <a:spLocks noChangeArrowheads="1"/>
            </p:cNvSpPr>
            <p:nvPr/>
          </p:nvSpPr>
          <p:spPr bwMode="auto">
            <a:xfrm>
              <a:off x="7647" y="1841"/>
              <a:ext cx="5691" cy="5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15000"/>
                </a:lnSpc>
              </a:pPr>
              <a:r>
                <a:rPr sz="800" b="0">
                  <a:solidFill>
                    <a:srgbClr val="6B7B8C"/>
                  </a:solidFill>
                  <a:latin typeface="微软雅黑"/>
                </a:rPr>
                <a:t>三套自动化门禁、算例复算与效率分析</a:t>
              </a:r>
              <a:endPara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3" name="文本框 34"/>
            <p:cNvSpPr txBox="1">
              <a:spLocks noChangeArrowheads="1"/>
            </p:cNvSpPr>
            <p:nvPr/>
          </p:nvSpPr>
          <p:spPr bwMode="auto">
            <a:xfrm>
              <a:off x="7647" y="1263"/>
              <a:ext cx="476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sz="1700" b="1">
                  <a:solidFill>
                    <a:srgbClr val="212A4D"/>
                  </a:solidFill>
                  <a:latin typeface="微软雅黑"/>
                </a:rPr>
                <a:t>03  验证与效果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5832475" y="3391853"/>
            <a:ext cx="3427095" cy="876935"/>
            <a:chOff x="8125" y="2705"/>
            <a:chExt cx="5397" cy="1381"/>
          </a:xfrm>
        </p:grpSpPr>
        <p:cxnSp>
          <p:nvCxnSpPr>
            <p:cNvPr id="146" name="Straight Connector 21"/>
            <p:cNvCxnSpPr/>
            <p:nvPr/>
          </p:nvCxnSpPr>
          <p:spPr>
            <a:xfrm>
              <a:off x="8125" y="2850"/>
              <a:ext cx="0" cy="802"/>
            </a:xfrm>
            <a:prstGeom prst="line">
              <a:avLst/>
            </a:prstGeom>
            <a:ln w="12700" cap="rnd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矩形 33"/>
            <p:cNvSpPr>
              <a:spLocks noChangeArrowheads="1"/>
            </p:cNvSpPr>
            <p:nvPr/>
          </p:nvSpPr>
          <p:spPr bwMode="auto">
            <a:xfrm>
              <a:off x="8125" y="3282"/>
              <a:ext cx="5397" cy="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15000"/>
                </a:lnSpc>
              </a:pPr>
              <a:r>
                <a:rPr sz="800" b="0">
                  <a:solidFill>
                    <a:srgbClr val="6B7B8C"/>
                  </a:solidFill>
                  <a:latin typeface="微软雅黑"/>
                </a:rPr>
                <a:t>主要结论、创新点与后续工作建议</a:t>
              </a:r>
              <a:endParaRPr lang="zh-CN" altLang="en-US" sz="700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8" name="文本框 34"/>
            <p:cNvSpPr txBox="1">
              <a:spLocks noChangeArrowheads="1"/>
            </p:cNvSpPr>
            <p:nvPr/>
          </p:nvSpPr>
          <p:spPr bwMode="auto">
            <a:xfrm>
              <a:off x="8125" y="2705"/>
              <a:ext cx="4762" cy="5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sz="1700" b="1">
                  <a:solidFill>
                    <a:srgbClr val="212A4D"/>
                  </a:solidFill>
                  <a:latin typeface="微软雅黑"/>
                </a:rPr>
                <a:t>04  结论与展望</a:t>
              </a:r>
              <a:endPara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0" y="1828165"/>
            <a:ext cx="2498725" cy="1403985"/>
          </a:xfrm>
          <a:prstGeom prst="rect">
            <a:avLst/>
          </a:prstGeom>
          <a:solidFill>
            <a:schemeClr val="tx1">
              <a:lumMod val="75000"/>
              <a:lumOff val="25000"/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20358" y="1978660"/>
            <a:ext cx="1858010" cy="1102995"/>
            <a:chOff x="765" y="3157"/>
            <a:chExt cx="2926" cy="1737"/>
          </a:xfrm>
        </p:grpSpPr>
        <p:sp>
          <p:nvSpPr>
            <p:cNvPr id="35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1028" y="3157"/>
              <a:ext cx="2400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dist">
                <a:spcBef>
                  <a:spcPct val="0"/>
                </a:spcBef>
              </a:pPr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OPPOSans R" panose="00020600040101010101" pitchFamily="18" charset="-122"/>
                </a:rPr>
                <a:t>目  录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OPPOSans R" panose="00020600040101010101" pitchFamily="18" charset="-122"/>
              </a:endParaRPr>
            </a:p>
          </p:txBody>
        </p:sp>
        <p:sp>
          <p:nvSpPr>
            <p:cNvPr id="36" name="稻壳儿春秋广告/盗版必究        原创来源：http://chn.docer.com/works?userid=199329941#!/work_time"/>
            <p:cNvSpPr>
              <a:spLocks noChangeArrowheads="1"/>
            </p:cNvSpPr>
            <p:nvPr/>
          </p:nvSpPr>
          <p:spPr bwMode="auto">
            <a:xfrm>
              <a:off x="765" y="4170"/>
              <a:ext cx="2927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dist">
                <a:spcBef>
                  <a:spcPct val="0"/>
                </a:spcBef>
              </a:pP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OPPOSans R" panose="00020600040101010101" pitchFamily="18" charset="-122"/>
                  <a:sym typeface="OPPOSans R" panose="00020600040101010101" pitchFamily="18" charset="-122"/>
                </a:rPr>
                <a:t>Contents</a:t>
              </a:r>
              <a:endPara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POSans R" panose="00020600040101010101" pitchFamily="18" charset="-122"/>
                <a:sym typeface="OPPOSans R" panose="00020600040101010101" pitchFamily="18" charset="-122"/>
              </a:endParaRPr>
            </a:p>
          </p:txBody>
        </p:sp>
      </p:grpSp>
      <p:pic>
        <p:nvPicPr>
          <p:cNvPr id="2" name="图片 1" descr="logo-中文_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745" y="31115"/>
            <a:ext cx="1059815" cy="10598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32"/>
            <a:ext cx="9144635" cy="514413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  <p:grpSp>
        <p:nvGrpSpPr>
          <p:cNvPr id="92" name="组合 91"/>
          <p:cNvGrpSpPr/>
          <p:nvPr/>
        </p:nvGrpSpPr>
        <p:grpSpPr>
          <a:xfrm rot="10800000">
            <a:off x="6276049" y="7691"/>
            <a:ext cx="2858825" cy="3038630"/>
            <a:chOff x="-10549" y="3165604"/>
            <a:chExt cx="3811767" cy="4051507"/>
          </a:xfrm>
        </p:grpSpPr>
        <p:sp>
          <p:nvSpPr>
            <p:cNvPr id="93" name="等腰三角形 92"/>
            <p:cNvSpPr/>
            <p:nvPr/>
          </p:nvSpPr>
          <p:spPr>
            <a:xfrm rot="5400000">
              <a:off x="-61373" y="6530994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等腰三角形 93"/>
            <p:cNvSpPr/>
            <p:nvPr/>
          </p:nvSpPr>
          <p:spPr>
            <a:xfrm rot="5400000">
              <a:off x="1209216" y="6530994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5" name="等腰三角形 94"/>
            <p:cNvSpPr/>
            <p:nvPr/>
          </p:nvSpPr>
          <p:spPr>
            <a:xfrm rot="16200000">
              <a:off x="573922" y="6530994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等腰三角形 95"/>
            <p:cNvSpPr/>
            <p:nvPr/>
          </p:nvSpPr>
          <p:spPr>
            <a:xfrm rot="5400000">
              <a:off x="2479805" y="6530994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7" name="等腰三角形 96"/>
            <p:cNvSpPr/>
            <p:nvPr/>
          </p:nvSpPr>
          <p:spPr>
            <a:xfrm rot="16200000">
              <a:off x="1844511" y="6530994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等腰三角形 114"/>
            <p:cNvSpPr/>
            <p:nvPr/>
          </p:nvSpPr>
          <p:spPr>
            <a:xfrm rot="5400000">
              <a:off x="573922" y="6164196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等腰三角形 115"/>
            <p:cNvSpPr/>
            <p:nvPr/>
          </p:nvSpPr>
          <p:spPr>
            <a:xfrm rot="16200000">
              <a:off x="-61372" y="6164196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等腰三角形 116"/>
            <p:cNvSpPr/>
            <p:nvPr/>
          </p:nvSpPr>
          <p:spPr>
            <a:xfrm rot="5400000">
              <a:off x="1844511" y="6164196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等腰三角形 117"/>
            <p:cNvSpPr/>
            <p:nvPr/>
          </p:nvSpPr>
          <p:spPr>
            <a:xfrm rot="16200000">
              <a:off x="1209217" y="6164196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等腰三角形 118"/>
            <p:cNvSpPr/>
            <p:nvPr/>
          </p:nvSpPr>
          <p:spPr>
            <a:xfrm rot="5400000">
              <a:off x="3115100" y="6164196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等腰三角形 119"/>
            <p:cNvSpPr/>
            <p:nvPr/>
          </p:nvSpPr>
          <p:spPr>
            <a:xfrm rot="5400000">
              <a:off x="-61373" y="5794052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等腰三角形 120"/>
            <p:cNvSpPr/>
            <p:nvPr/>
          </p:nvSpPr>
          <p:spPr>
            <a:xfrm rot="5400000">
              <a:off x="1209216" y="5794052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等腰三角形 121"/>
            <p:cNvSpPr/>
            <p:nvPr/>
          </p:nvSpPr>
          <p:spPr>
            <a:xfrm rot="16200000">
              <a:off x="573922" y="5794052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等腰三角形 122"/>
            <p:cNvSpPr/>
            <p:nvPr/>
          </p:nvSpPr>
          <p:spPr>
            <a:xfrm rot="5400000">
              <a:off x="2479805" y="5794052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等腰三角形 123"/>
            <p:cNvSpPr/>
            <p:nvPr/>
          </p:nvSpPr>
          <p:spPr>
            <a:xfrm rot="16200000">
              <a:off x="1844511" y="5794052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5" name="等腰三角形 124"/>
            <p:cNvSpPr/>
            <p:nvPr/>
          </p:nvSpPr>
          <p:spPr>
            <a:xfrm rot="5400000">
              <a:off x="573922" y="5427254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等腰三角形 125"/>
            <p:cNvSpPr/>
            <p:nvPr/>
          </p:nvSpPr>
          <p:spPr>
            <a:xfrm rot="16200000">
              <a:off x="-61372" y="5427254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7" name="等腰三角形 126"/>
            <p:cNvSpPr/>
            <p:nvPr/>
          </p:nvSpPr>
          <p:spPr>
            <a:xfrm rot="16200000">
              <a:off x="1209217" y="5427254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8" name="等腰三角形 127"/>
            <p:cNvSpPr/>
            <p:nvPr/>
          </p:nvSpPr>
          <p:spPr>
            <a:xfrm rot="5400000">
              <a:off x="-61373" y="5057110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9" name="等腰三角形 128"/>
            <p:cNvSpPr/>
            <p:nvPr/>
          </p:nvSpPr>
          <p:spPr>
            <a:xfrm rot="5400000">
              <a:off x="1209216" y="5057110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0" name="等腰三角形 129"/>
            <p:cNvSpPr/>
            <p:nvPr/>
          </p:nvSpPr>
          <p:spPr>
            <a:xfrm rot="16200000">
              <a:off x="573922" y="5057110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1" name="等腰三角形 130"/>
            <p:cNvSpPr/>
            <p:nvPr/>
          </p:nvSpPr>
          <p:spPr>
            <a:xfrm rot="5400000">
              <a:off x="573922" y="4690312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2" name="等腰三角形 131"/>
            <p:cNvSpPr/>
            <p:nvPr/>
          </p:nvSpPr>
          <p:spPr>
            <a:xfrm rot="16200000">
              <a:off x="-61372" y="4690312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3" name="等腰三角形 132"/>
            <p:cNvSpPr/>
            <p:nvPr/>
          </p:nvSpPr>
          <p:spPr>
            <a:xfrm rot="16200000">
              <a:off x="1209217" y="4690312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4" name="等腰三角形 133"/>
            <p:cNvSpPr/>
            <p:nvPr/>
          </p:nvSpPr>
          <p:spPr>
            <a:xfrm rot="5400000">
              <a:off x="-61373" y="4320168"/>
              <a:ext cx="736941" cy="635294"/>
            </a:xfrm>
            <a:prstGeom prst="triangle">
              <a:avLst/>
            </a:prstGeom>
            <a:solidFill>
              <a:srgbClr val="00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5" name="等腰三角形 134"/>
            <p:cNvSpPr/>
            <p:nvPr/>
          </p:nvSpPr>
          <p:spPr>
            <a:xfrm rot="16200000">
              <a:off x="573922" y="4320168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6" name="等腰三角形 135"/>
            <p:cNvSpPr/>
            <p:nvPr/>
          </p:nvSpPr>
          <p:spPr>
            <a:xfrm rot="16200000">
              <a:off x="-61372" y="3953370"/>
              <a:ext cx="736941" cy="635294"/>
            </a:xfrm>
            <a:prstGeom prst="triangle">
              <a:avLst/>
            </a:prstGeom>
            <a:solidFill>
              <a:srgbClr val="000000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7" name="等腰三角形 136"/>
            <p:cNvSpPr/>
            <p:nvPr/>
          </p:nvSpPr>
          <p:spPr>
            <a:xfrm rot="5400000">
              <a:off x="-61373" y="3583226"/>
              <a:ext cx="736941" cy="635294"/>
            </a:xfrm>
            <a:prstGeom prst="triangle">
              <a:avLst/>
            </a:prstGeom>
            <a:solidFill>
              <a:srgbClr val="000000">
                <a:alpha val="5098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8" name="等腰三角形 137"/>
            <p:cNvSpPr/>
            <p:nvPr/>
          </p:nvSpPr>
          <p:spPr>
            <a:xfrm rot="16200000">
              <a:off x="-61372" y="3216428"/>
              <a:ext cx="736941" cy="635294"/>
            </a:xfrm>
            <a:prstGeom prst="triangle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1" name="图片 10" descr="C:\Users\joker_moon\Desktop\的顶顶顶顶顶的\微信图片_20210526053707.jpg微信图片_20210526053707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64781" y="939615"/>
            <a:ext cx="5179219" cy="3265170"/>
          </a:xfrm>
          <a:prstGeom prst="rect">
            <a:avLst/>
          </a:prstGeom>
        </p:spPr>
      </p:pic>
      <p:sp>
        <p:nvSpPr>
          <p:cNvPr id="12" name="图文框 11"/>
          <p:cNvSpPr/>
          <p:nvPr/>
        </p:nvSpPr>
        <p:spPr>
          <a:xfrm>
            <a:off x="2253853" y="1307757"/>
            <a:ext cx="4300538" cy="2235993"/>
          </a:xfrm>
          <a:prstGeom prst="frame">
            <a:avLst>
              <a:gd name="adj1" fmla="val 1511"/>
            </a:avLst>
          </a:prstGeom>
          <a:solidFill>
            <a:schemeClr val="bg1">
              <a:alpha val="33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pic>
        <p:nvPicPr>
          <p:cNvPr id="3" name="图片 2" descr="logo-中文_白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018"/>
            <a:ext cx="1364615" cy="1364615"/>
          </a:xfrm>
          <a:prstGeom prst="rect">
            <a:avLst/>
          </a:prstGeom>
        </p:spPr>
      </p:pic>
      <p:pic>
        <p:nvPicPr>
          <p:cNvPr id="5" name="图片 4" descr="中铁电化院企业宣传册--A4_bai"/>
          <p:cNvPicPr>
            <a:picLocks noChangeAspect="1"/>
          </p:cNvPicPr>
          <p:nvPr/>
        </p:nvPicPr>
        <p:blipFill>
          <a:blip r:embed="rId3"/>
          <a:srcRect t="6977"/>
          <a:stretch>
            <a:fillRect/>
          </a:stretch>
        </p:blipFill>
        <p:spPr>
          <a:xfrm>
            <a:off x="-91440" y="3886200"/>
            <a:ext cx="4147820" cy="132080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127125" y="1651689"/>
            <a:ext cx="5288280" cy="1548130"/>
            <a:chOff x="1775" y="3134"/>
            <a:chExt cx="8328" cy="2438"/>
          </a:xfrm>
        </p:grpSpPr>
        <p:grpSp>
          <p:nvGrpSpPr>
            <p:cNvPr id="18" name="组合 17"/>
            <p:cNvGrpSpPr/>
            <p:nvPr/>
          </p:nvGrpSpPr>
          <p:grpSpPr>
            <a:xfrm>
              <a:off x="1775" y="3134"/>
              <a:ext cx="8328" cy="1374"/>
              <a:chOff x="1775" y="2787"/>
              <a:chExt cx="8328" cy="1374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1775" y="2787"/>
                <a:ext cx="8328" cy="8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000" b="0">
                    <a:solidFill>
                      <a:srgbClr val="FFFFFF"/>
                    </a:solidFill>
                    <a:latin typeface="微软雅黑"/>
                  </a:rPr>
                  <a:t>感谢聆听</a:t>
                </a:r>
                <a:endParaRPr lang="zh-CN" altLang="en-US" sz="3000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1775" y="3654"/>
                <a:ext cx="4469" cy="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400" b="1">
                    <a:solidFill>
                      <a:srgbClr val="FFFFFF"/>
                    </a:solidFill>
                    <a:latin typeface="微软雅黑"/>
                  </a:rPr>
                  <a:t>THANK YOU FOR LISTENING</a:t>
                </a:r>
                <a:endParaRPr lang="en-US" altLang="zh-CN" sz="1500" b="1" spc="20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21" name="直接连接符 20"/>
            <p:cNvCxnSpPr/>
            <p:nvPr/>
          </p:nvCxnSpPr>
          <p:spPr>
            <a:xfrm>
              <a:off x="1879" y="4534"/>
              <a:ext cx="506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1775" y="4648"/>
              <a:ext cx="1442" cy="9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sz="825" b="0">
                  <a:solidFill>
                    <a:srgbClr val="FFFFFF"/>
                  </a:solidFill>
                  <a:latin typeface="微软雅黑"/>
                </a:rPr>
                <a:t/>
              </a:r>
              <a:endParaRPr kumimoji="1" lang="zh-CN" altLang="en-US" sz="82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39" name="TextBox 138"/>
          <p:cNvSpPr txBox="1"/>
          <p:nvPr/>
        </p:nvSpPr>
        <p:spPr>
          <a:xfrm>
            <a:off x="1143000" y="3310128"/>
            <a:ext cx="26974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900" b="0">
                <a:solidFill>
                  <a:srgbClr val="FFFFFF"/>
                </a:solidFill>
                <a:latin typeface="微软雅黑"/>
              </a:rPr>
              <a:t>汇报人: HVACIDA 项目组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日期: 2026 年 10 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2" grpId="1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" name="任意多边形 128"/>
          <p:cNvSpPr/>
          <p:nvPr/>
        </p:nvSpPr>
        <p:spPr>
          <a:xfrm rot="16200000">
            <a:off x="5820013" y="1396392"/>
            <a:ext cx="4719955" cy="1929130"/>
          </a:xfrm>
          <a:custGeom>
            <a:avLst/>
            <a:gdLst>
              <a:gd name="connsiteX0" fmla="*/ 0 w 7433"/>
              <a:gd name="connsiteY0" fmla="*/ 0 h 3038"/>
              <a:gd name="connsiteX1" fmla="*/ 2799 w 7433"/>
              <a:gd name="connsiteY1" fmla="*/ 0 h 3038"/>
              <a:gd name="connsiteX2" fmla="*/ 4662 w 7433"/>
              <a:gd name="connsiteY2" fmla="*/ 0 h 3038"/>
              <a:gd name="connsiteX3" fmla="*/ 7433 w 7433"/>
              <a:gd name="connsiteY3" fmla="*/ 0 h 3038"/>
              <a:gd name="connsiteX4" fmla="*/ 7433 w 7433"/>
              <a:gd name="connsiteY4" fmla="*/ 3038 h 3038"/>
              <a:gd name="connsiteX5" fmla="*/ 0 w 7433"/>
              <a:gd name="connsiteY5" fmla="*/ 3038 h 3038"/>
              <a:gd name="connsiteX6" fmla="*/ 0 w 7433"/>
              <a:gd name="connsiteY6" fmla="*/ 0 h 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33" h="3038">
                <a:moveTo>
                  <a:pt x="0" y="0"/>
                </a:moveTo>
                <a:lnTo>
                  <a:pt x="2799" y="0"/>
                </a:lnTo>
                <a:lnTo>
                  <a:pt x="4662" y="0"/>
                </a:lnTo>
                <a:lnTo>
                  <a:pt x="7433" y="0"/>
                </a:lnTo>
                <a:lnTo>
                  <a:pt x="7433" y="3038"/>
                </a:lnTo>
                <a:lnTo>
                  <a:pt x="0" y="3038"/>
                </a:lnTo>
                <a:lnTo>
                  <a:pt x="0" y="0"/>
                </a:lnTo>
                <a:close/>
              </a:path>
            </a:pathLst>
          </a:custGeom>
          <a:solidFill>
            <a:srgbClr val="005AAB"/>
          </a:solidFill>
          <a:ln w="25400" cap="flat" cmpd="sng" algn="ctr">
            <a:noFill/>
            <a:prstDash val="solid"/>
          </a:ln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p>
            <a:pPr algn="ctr" defTabSz="1219200"/>
            <a:endParaRPr lang="zh-CN" altLang="en-US" sz="2400" kern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6" name="文本框 45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 txBox="1"/>
          <p:nvPr/>
        </p:nvSpPr>
        <p:spPr>
          <a:xfrm>
            <a:off x="467678" y="2257531"/>
            <a:ext cx="4742498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研究背景与目标</a:t>
            </a:r>
            <a:endParaRPr lang="en-US" altLang="zh-CN" sz="3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/>
          <p:nvPr/>
        </p:nvSpPr>
        <p:spPr>
          <a:xfrm>
            <a:off x="467678" y="2788550"/>
            <a:ext cx="4836795" cy="50673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地铁机电正向设计的三个断点与五项研究内容</a:t>
            </a:r>
            <a:endParaRPr lang="en-US" altLang="zh-CN" sz="9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48" name="文本框 47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 txBox="1"/>
          <p:nvPr/>
        </p:nvSpPr>
        <p:spPr>
          <a:xfrm>
            <a:off x="467678" y="1445525"/>
            <a:ext cx="150542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微软雅黑"/>
              </a:rPr>
              <a:t>01</a:t>
            </a:r>
            <a:endParaRPr lang="en-US" altLang="zh-CN" sz="5400">
              <a:solidFill>
                <a:schemeClr val="bg1"/>
              </a:solidFill>
              <a:latin typeface="Impact" panose="020B0806030902050204" pitchFamily="34" charset="0"/>
              <a:ea typeface="微软雅黑 Light" panose="020B0502040204020203" charset="-122"/>
              <a:cs typeface="Impact" panose="020B080603090205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48680" y="970624"/>
            <a:ext cx="2447290" cy="2780665"/>
            <a:chOff x="9368" y="2002"/>
            <a:chExt cx="3854" cy="4379"/>
          </a:xfrm>
        </p:grpSpPr>
        <p:grpSp>
          <p:nvGrpSpPr>
            <p:cNvPr id="3" name="组合 2"/>
            <p:cNvGrpSpPr/>
            <p:nvPr/>
          </p:nvGrpSpPr>
          <p:grpSpPr>
            <a:xfrm>
              <a:off x="9368" y="2002"/>
              <a:ext cx="3854" cy="3106"/>
              <a:chOff x="12587" y="2828"/>
              <a:chExt cx="5138" cy="4141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12587" y="2828"/>
                <a:ext cx="5138" cy="4141"/>
              </a:xfrm>
              <a:prstGeom prst="ellipse">
                <a:avLst/>
              </a:prstGeom>
              <a:solidFill>
                <a:srgbClr val="005AAB"/>
              </a:solidFill>
              <a:ln w="4445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88900" dist="63500" dir="5400000" algn="t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8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pic>
            <p:nvPicPr>
              <p:cNvPr id="132" name="图片 131"/>
              <p:cNvPicPr>
                <a:picLocks noChangeAspect="1"/>
              </p:cNvPicPr>
              <p:nvPr/>
            </p:nvPicPr>
            <p:blipFill>
              <a:blip r:embed="rId2">
                <a:biLevel thresh="25000"/>
              </a:blip>
              <a:stretch>
                <a:fillRect/>
              </a:stretch>
            </p:blipFill>
            <p:spPr>
              <a:xfrm>
                <a:off x="13283" y="3392"/>
                <a:ext cx="3746" cy="3013"/>
              </a:xfrm>
              <a:prstGeom prst="rect">
                <a:avLst/>
              </a:prstGeom>
            </p:spPr>
          </p:pic>
        </p:grpSp>
        <p:sp>
          <p:nvSpPr>
            <p:cNvPr id="2" name="文本框 1"/>
            <p:cNvSpPr txBox="1"/>
            <p:nvPr/>
          </p:nvSpPr>
          <p:spPr>
            <a:xfrm>
              <a:off x="9551" y="5269"/>
              <a:ext cx="3488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4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中国中铁</a:t>
              </a:r>
              <a:endPara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" name="任意多边形 128"/>
          <p:cNvSpPr/>
          <p:nvPr/>
        </p:nvSpPr>
        <p:spPr>
          <a:xfrm rot="16200000">
            <a:off x="5820013" y="1396392"/>
            <a:ext cx="4719955" cy="1929130"/>
          </a:xfrm>
          <a:custGeom>
            <a:avLst/>
            <a:gdLst>
              <a:gd name="connsiteX0" fmla="*/ 0 w 7433"/>
              <a:gd name="connsiteY0" fmla="*/ 0 h 3038"/>
              <a:gd name="connsiteX1" fmla="*/ 2799 w 7433"/>
              <a:gd name="connsiteY1" fmla="*/ 0 h 3038"/>
              <a:gd name="connsiteX2" fmla="*/ 4662 w 7433"/>
              <a:gd name="connsiteY2" fmla="*/ 0 h 3038"/>
              <a:gd name="connsiteX3" fmla="*/ 7433 w 7433"/>
              <a:gd name="connsiteY3" fmla="*/ 0 h 3038"/>
              <a:gd name="connsiteX4" fmla="*/ 7433 w 7433"/>
              <a:gd name="connsiteY4" fmla="*/ 3038 h 3038"/>
              <a:gd name="connsiteX5" fmla="*/ 0 w 7433"/>
              <a:gd name="connsiteY5" fmla="*/ 3038 h 3038"/>
              <a:gd name="connsiteX6" fmla="*/ 0 w 7433"/>
              <a:gd name="connsiteY6" fmla="*/ 0 h 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33" h="3038">
                <a:moveTo>
                  <a:pt x="0" y="0"/>
                </a:moveTo>
                <a:lnTo>
                  <a:pt x="2799" y="0"/>
                </a:lnTo>
                <a:lnTo>
                  <a:pt x="4662" y="0"/>
                </a:lnTo>
                <a:lnTo>
                  <a:pt x="7433" y="0"/>
                </a:lnTo>
                <a:lnTo>
                  <a:pt x="7433" y="3038"/>
                </a:lnTo>
                <a:lnTo>
                  <a:pt x="0" y="3038"/>
                </a:lnTo>
                <a:lnTo>
                  <a:pt x="0" y="0"/>
                </a:lnTo>
                <a:close/>
              </a:path>
            </a:pathLst>
          </a:custGeom>
          <a:solidFill>
            <a:srgbClr val="005AAB"/>
          </a:solidFill>
          <a:ln w="25400" cap="flat" cmpd="sng" algn="ctr">
            <a:noFill/>
            <a:prstDash val="solid"/>
          </a:ln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p>
            <a:pPr algn="ctr" defTabSz="1219200"/>
            <a:endParaRPr lang="zh-CN" altLang="en-US" sz="2400" kern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6" name="文本框 45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 txBox="1"/>
          <p:nvPr/>
        </p:nvSpPr>
        <p:spPr>
          <a:xfrm>
            <a:off x="467678" y="2257531"/>
            <a:ext cx="4742498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技术方案与实现</a:t>
            </a:r>
            <a:endParaRPr lang="en-US" altLang="zh-CN" sz="3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/>
          <p:nvPr/>
        </p:nvSpPr>
        <p:spPr>
          <a:xfrm>
            <a:off x="467678" y="2788550"/>
            <a:ext cx="4836795" cy="50673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计算内核 · 模型联动 · 成果派生 · 规范知识与 AI</a:t>
            </a:r>
            <a:endParaRPr lang="en-US" altLang="zh-CN" sz="9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48" name="文本框 47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 txBox="1"/>
          <p:nvPr/>
        </p:nvSpPr>
        <p:spPr>
          <a:xfrm>
            <a:off x="467678" y="1445525"/>
            <a:ext cx="150542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微软雅黑"/>
              </a:rPr>
              <a:t>02</a:t>
            </a:r>
            <a:endParaRPr lang="en-US" altLang="zh-CN" sz="5400">
              <a:solidFill>
                <a:schemeClr val="bg1"/>
              </a:solidFill>
              <a:latin typeface="Impact" panose="020B0806030902050204" pitchFamily="34" charset="0"/>
              <a:ea typeface="微软雅黑 Light" panose="020B0502040204020203" charset="-122"/>
              <a:cs typeface="Impact" panose="020B080603090205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48680" y="970624"/>
            <a:ext cx="2447290" cy="2780665"/>
            <a:chOff x="9368" y="2002"/>
            <a:chExt cx="3854" cy="4379"/>
          </a:xfrm>
        </p:grpSpPr>
        <p:grpSp>
          <p:nvGrpSpPr>
            <p:cNvPr id="3" name="组合 2"/>
            <p:cNvGrpSpPr/>
            <p:nvPr/>
          </p:nvGrpSpPr>
          <p:grpSpPr>
            <a:xfrm>
              <a:off x="9368" y="2002"/>
              <a:ext cx="3854" cy="3106"/>
              <a:chOff x="12587" y="2828"/>
              <a:chExt cx="5138" cy="4141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12587" y="2828"/>
                <a:ext cx="5138" cy="4141"/>
              </a:xfrm>
              <a:prstGeom prst="ellipse">
                <a:avLst/>
              </a:prstGeom>
              <a:solidFill>
                <a:srgbClr val="005AAB"/>
              </a:solidFill>
              <a:ln w="4445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88900" dist="63500" dir="5400000" algn="t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8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pic>
            <p:nvPicPr>
              <p:cNvPr id="132" name="图片 131"/>
              <p:cNvPicPr>
                <a:picLocks noChangeAspect="1"/>
              </p:cNvPicPr>
              <p:nvPr/>
            </p:nvPicPr>
            <p:blipFill>
              <a:blip r:embed="rId2">
                <a:biLevel thresh="25000"/>
              </a:blip>
              <a:stretch>
                <a:fillRect/>
              </a:stretch>
            </p:blipFill>
            <p:spPr>
              <a:xfrm>
                <a:off x="13283" y="3392"/>
                <a:ext cx="3746" cy="3013"/>
              </a:xfrm>
              <a:prstGeom prst="rect">
                <a:avLst/>
              </a:prstGeom>
            </p:spPr>
          </p:pic>
        </p:grpSp>
        <p:sp>
          <p:nvSpPr>
            <p:cNvPr id="2" name="文本框 1"/>
            <p:cNvSpPr txBox="1"/>
            <p:nvPr/>
          </p:nvSpPr>
          <p:spPr>
            <a:xfrm>
              <a:off x="9551" y="5269"/>
              <a:ext cx="3488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4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中国中铁</a:t>
              </a:r>
              <a:endPara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" name="任意多边形 128"/>
          <p:cNvSpPr/>
          <p:nvPr/>
        </p:nvSpPr>
        <p:spPr>
          <a:xfrm rot="16200000">
            <a:off x="5820013" y="1396392"/>
            <a:ext cx="4719955" cy="1929130"/>
          </a:xfrm>
          <a:custGeom>
            <a:avLst/>
            <a:gdLst>
              <a:gd name="connsiteX0" fmla="*/ 0 w 7433"/>
              <a:gd name="connsiteY0" fmla="*/ 0 h 3038"/>
              <a:gd name="connsiteX1" fmla="*/ 2799 w 7433"/>
              <a:gd name="connsiteY1" fmla="*/ 0 h 3038"/>
              <a:gd name="connsiteX2" fmla="*/ 4662 w 7433"/>
              <a:gd name="connsiteY2" fmla="*/ 0 h 3038"/>
              <a:gd name="connsiteX3" fmla="*/ 7433 w 7433"/>
              <a:gd name="connsiteY3" fmla="*/ 0 h 3038"/>
              <a:gd name="connsiteX4" fmla="*/ 7433 w 7433"/>
              <a:gd name="connsiteY4" fmla="*/ 3038 h 3038"/>
              <a:gd name="connsiteX5" fmla="*/ 0 w 7433"/>
              <a:gd name="connsiteY5" fmla="*/ 3038 h 3038"/>
              <a:gd name="connsiteX6" fmla="*/ 0 w 7433"/>
              <a:gd name="connsiteY6" fmla="*/ 0 h 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33" h="3038">
                <a:moveTo>
                  <a:pt x="0" y="0"/>
                </a:moveTo>
                <a:lnTo>
                  <a:pt x="2799" y="0"/>
                </a:lnTo>
                <a:lnTo>
                  <a:pt x="4662" y="0"/>
                </a:lnTo>
                <a:lnTo>
                  <a:pt x="7433" y="0"/>
                </a:lnTo>
                <a:lnTo>
                  <a:pt x="7433" y="3038"/>
                </a:lnTo>
                <a:lnTo>
                  <a:pt x="0" y="3038"/>
                </a:lnTo>
                <a:lnTo>
                  <a:pt x="0" y="0"/>
                </a:lnTo>
                <a:close/>
              </a:path>
            </a:pathLst>
          </a:custGeom>
          <a:solidFill>
            <a:srgbClr val="005AAB"/>
          </a:solidFill>
          <a:ln w="25400" cap="flat" cmpd="sng" algn="ctr">
            <a:noFill/>
            <a:prstDash val="solid"/>
          </a:ln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p>
            <a:pPr algn="ctr" defTabSz="1219200"/>
            <a:endParaRPr lang="zh-CN" altLang="en-US" sz="2400" kern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6" name="文本框 45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 txBox="1"/>
          <p:nvPr/>
        </p:nvSpPr>
        <p:spPr>
          <a:xfrm>
            <a:off x="467678" y="2257531"/>
            <a:ext cx="4742498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验证与效果</a:t>
            </a:r>
            <a:endParaRPr lang="en-US" altLang="zh-CN" sz="3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/>
          <p:nvPr/>
        </p:nvSpPr>
        <p:spPr>
          <a:xfrm>
            <a:off x="467678" y="2788550"/>
            <a:ext cx="4836795" cy="50673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三套自动化门禁与文档示例逐格复算</a:t>
            </a:r>
            <a:endParaRPr lang="en-US" altLang="zh-CN" sz="9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48" name="文本框 47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 txBox="1"/>
          <p:nvPr/>
        </p:nvSpPr>
        <p:spPr>
          <a:xfrm>
            <a:off x="467678" y="1445525"/>
            <a:ext cx="150542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微软雅黑"/>
              </a:rPr>
              <a:t>03</a:t>
            </a:r>
            <a:endParaRPr lang="en-US" altLang="zh-CN" sz="5400">
              <a:solidFill>
                <a:schemeClr val="bg1"/>
              </a:solidFill>
              <a:latin typeface="Impact" panose="020B0806030902050204" pitchFamily="34" charset="0"/>
              <a:ea typeface="微软雅黑 Light" panose="020B0502040204020203" charset="-122"/>
              <a:cs typeface="Impact" panose="020B080603090205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48680" y="970624"/>
            <a:ext cx="2447290" cy="2780665"/>
            <a:chOff x="9368" y="2002"/>
            <a:chExt cx="3854" cy="4379"/>
          </a:xfrm>
        </p:grpSpPr>
        <p:grpSp>
          <p:nvGrpSpPr>
            <p:cNvPr id="3" name="组合 2"/>
            <p:cNvGrpSpPr/>
            <p:nvPr/>
          </p:nvGrpSpPr>
          <p:grpSpPr>
            <a:xfrm>
              <a:off x="9368" y="2002"/>
              <a:ext cx="3854" cy="3106"/>
              <a:chOff x="12587" y="2828"/>
              <a:chExt cx="5138" cy="4141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12587" y="2828"/>
                <a:ext cx="5138" cy="4141"/>
              </a:xfrm>
              <a:prstGeom prst="ellipse">
                <a:avLst/>
              </a:prstGeom>
              <a:solidFill>
                <a:srgbClr val="005AAB"/>
              </a:solidFill>
              <a:ln w="4445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88900" dist="63500" dir="5400000" algn="t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8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pic>
            <p:nvPicPr>
              <p:cNvPr id="132" name="图片 131"/>
              <p:cNvPicPr>
                <a:picLocks noChangeAspect="1"/>
              </p:cNvPicPr>
              <p:nvPr/>
            </p:nvPicPr>
            <p:blipFill>
              <a:blip r:embed="rId2">
                <a:biLevel thresh="25000"/>
              </a:blip>
              <a:stretch>
                <a:fillRect/>
              </a:stretch>
            </p:blipFill>
            <p:spPr>
              <a:xfrm>
                <a:off x="13283" y="3392"/>
                <a:ext cx="3746" cy="3013"/>
              </a:xfrm>
              <a:prstGeom prst="rect">
                <a:avLst/>
              </a:prstGeom>
            </p:spPr>
          </p:pic>
        </p:grpSp>
        <p:sp>
          <p:nvSpPr>
            <p:cNvPr id="2" name="文本框 1"/>
            <p:cNvSpPr txBox="1"/>
            <p:nvPr/>
          </p:nvSpPr>
          <p:spPr>
            <a:xfrm>
              <a:off x="9551" y="5269"/>
              <a:ext cx="3488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4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中国中铁</a:t>
              </a:r>
              <a:endPara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9" name="任意多边形 128"/>
          <p:cNvSpPr/>
          <p:nvPr/>
        </p:nvSpPr>
        <p:spPr>
          <a:xfrm rot="16200000">
            <a:off x="5820013" y="1396392"/>
            <a:ext cx="4719955" cy="1929130"/>
          </a:xfrm>
          <a:custGeom>
            <a:avLst/>
            <a:gdLst>
              <a:gd name="connsiteX0" fmla="*/ 0 w 7433"/>
              <a:gd name="connsiteY0" fmla="*/ 0 h 3038"/>
              <a:gd name="connsiteX1" fmla="*/ 2799 w 7433"/>
              <a:gd name="connsiteY1" fmla="*/ 0 h 3038"/>
              <a:gd name="connsiteX2" fmla="*/ 4662 w 7433"/>
              <a:gd name="connsiteY2" fmla="*/ 0 h 3038"/>
              <a:gd name="connsiteX3" fmla="*/ 7433 w 7433"/>
              <a:gd name="connsiteY3" fmla="*/ 0 h 3038"/>
              <a:gd name="connsiteX4" fmla="*/ 7433 w 7433"/>
              <a:gd name="connsiteY4" fmla="*/ 3038 h 3038"/>
              <a:gd name="connsiteX5" fmla="*/ 0 w 7433"/>
              <a:gd name="connsiteY5" fmla="*/ 3038 h 3038"/>
              <a:gd name="connsiteX6" fmla="*/ 0 w 7433"/>
              <a:gd name="connsiteY6" fmla="*/ 0 h 3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33" h="3038">
                <a:moveTo>
                  <a:pt x="0" y="0"/>
                </a:moveTo>
                <a:lnTo>
                  <a:pt x="2799" y="0"/>
                </a:lnTo>
                <a:lnTo>
                  <a:pt x="4662" y="0"/>
                </a:lnTo>
                <a:lnTo>
                  <a:pt x="7433" y="0"/>
                </a:lnTo>
                <a:lnTo>
                  <a:pt x="7433" y="3038"/>
                </a:lnTo>
                <a:lnTo>
                  <a:pt x="0" y="3038"/>
                </a:lnTo>
                <a:lnTo>
                  <a:pt x="0" y="0"/>
                </a:lnTo>
                <a:close/>
              </a:path>
            </a:pathLst>
          </a:custGeom>
          <a:solidFill>
            <a:srgbClr val="005AAB"/>
          </a:solidFill>
          <a:ln w="25400" cap="flat" cmpd="sng" algn="ctr">
            <a:noFill/>
            <a:prstDash val="solid"/>
          </a:ln>
          <a:effectLst>
            <a:outerShdw blurRad="50800" dist="38100" dir="8100000" sx="101000" sy="101000" algn="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p>
            <a:pPr algn="ctr" defTabSz="1219200"/>
            <a:endParaRPr lang="zh-CN" altLang="en-US" sz="2400" kern="0">
              <a:solidFill>
                <a:srgbClr val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6" name="文本框 45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 txBox="1"/>
          <p:nvPr/>
        </p:nvSpPr>
        <p:spPr>
          <a:xfrm>
            <a:off x="467678" y="2257531"/>
            <a:ext cx="4742498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微软雅黑"/>
              </a:rPr>
              <a:t>结论与展望</a:t>
            </a:r>
            <a:endParaRPr lang="en-US" altLang="zh-CN" sz="3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/>
          <p:nvPr/>
        </p:nvSpPr>
        <p:spPr>
          <a:xfrm>
            <a:off x="467678" y="2788550"/>
            <a:ext cx="4836795" cy="506730"/>
          </a:xfrm>
          <a:prstGeom prst="rect">
            <a:avLst/>
          </a:prstGeom>
        </p:spPr>
        <p:txBody>
          <a:bodyPr wrap="square">
            <a:spAutoFit/>
          </a:bodyPr>
          <a:p>
            <a:pPr lvl="0" algn="l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sz="950" b="1">
                <a:solidFill>
                  <a:srgbClr val="FFFFFF"/>
                </a:solidFill>
                <a:latin typeface="微软雅黑"/>
              </a:rPr>
              <a:t>主要结论、创新点与后续工作</a:t>
            </a:r>
            <a:endParaRPr lang="en-US" altLang="zh-CN" sz="9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charset="0"/>
            </a:endParaRPr>
          </a:p>
        </p:txBody>
      </p:sp>
      <p:sp>
        <p:nvSpPr>
          <p:cNvPr id="48" name="文本框 47" descr="e7d195523061f1c09e9d68d7cf438b91ef959ecb14fc25d26BBA7F7DBC18E55DFF4014AF651F0BF2569D4B6C1DA7F1A4683A481403BD872FC687266AD13265C1DE7C373772FD8728ABDD69ADD03BFF5BE2862BC891DBB79E66832C150F59641120B6865E74AC334BD8D366E7A86A7640D80893447547E5CABC5EC0B8FAE88495F8DFFA6D488A2111BBDD4320AAD4BDEE"/>
          <p:cNvSpPr txBox="1"/>
          <p:nvPr/>
        </p:nvSpPr>
        <p:spPr>
          <a:xfrm>
            <a:off x="467678" y="1445525"/>
            <a:ext cx="150542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sz="5400" b="0">
                <a:solidFill>
                  <a:srgbClr val="FFFFFF"/>
                </a:solidFill>
                <a:latin typeface="微软雅黑"/>
              </a:rPr>
              <a:t>04</a:t>
            </a:r>
            <a:endParaRPr lang="en-US" altLang="zh-CN" sz="5400">
              <a:solidFill>
                <a:schemeClr val="bg1"/>
              </a:solidFill>
              <a:latin typeface="Impact" panose="020B0806030902050204" pitchFamily="34" charset="0"/>
              <a:ea typeface="微软雅黑 Light" panose="020B0502040204020203" charset="-122"/>
              <a:cs typeface="Impact" panose="020B080603090205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48680" y="970624"/>
            <a:ext cx="2447290" cy="2780665"/>
            <a:chOff x="9368" y="2002"/>
            <a:chExt cx="3854" cy="4379"/>
          </a:xfrm>
        </p:grpSpPr>
        <p:grpSp>
          <p:nvGrpSpPr>
            <p:cNvPr id="3" name="组合 2"/>
            <p:cNvGrpSpPr/>
            <p:nvPr/>
          </p:nvGrpSpPr>
          <p:grpSpPr>
            <a:xfrm>
              <a:off x="9368" y="2002"/>
              <a:ext cx="3854" cy="3106"/>
              <a:chOff x="12587" y="2828"/>
              <a:chExt cx="5138" cy="4141"/>
            </a:xfrm>
          </p:grpSpPr>
          <p:sp>
            <p:nvSpPr>
              <p:cNvPr id="131" name="椭圆 130"/>
              <p:cNvSpPr/>
              <p:nvPr/>
            </p:nvSpPr>
            <p:spPr>
              <a:xfrm>
                <a:off x="12587" y="2828"/>
                <a:ext cx="5138" cy="4141"/>
              </a:xfrm>
              <a:prstGeom prst="ellipse">
                <a:avLst/>
              </a:prstGeom>
              <a:solidFill>
                <a:srgbClr val="005AAB"/>
              </a:solidFill>
              <a:ln w="44450" cap="flat" cmpd="sng" algn="ctr">
                <a:solidFill>
                  <a:sysClr val="window" lastClr="FFFFFF"/>
                </a:solidFill>
                <a:prstDash val="solid"/>
              </a:ln>
              <a:effectLst>
                <a:outerShdw blurRad="88900" dist="63500" dir="5400000" algn="t" rotWithShape="0">
                  <a:prstClr val="black">
                    <a:alpha val="20000"/>
                  </a:prstClr>
                </a:outerShdw>
              </a:effectLst>
            </p:spPr>
            <p:txBody>
              <a:bodyPr rtlCol="0" anchor="ctr"/>
              <a:p>
                <a:pPr marL="0" marR="0" lvl="0" indent="0" algn="ctr" defTabSz="1219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18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pic>
            <p:nvPicPr>
              <p:cNvPr id="132" name="图片 131"/>
              <p:cNvPicPr>
                <a:picLocks noChangeAspect="1"/>
              </p:cNvPicPr>
              <p:nvPr/>
            </p:nvPicPr>
            <p:blipFill>
              <a:blip r:embed="rId2">
                <a:biLevel thresh="25000"/>
              </a:blip>
              <a:stretch>
                <a:fillRect/>
              </a:stretch>
            </p:blipFill>
            <p:spPr>
              <a:xfrm>
                <a:off x="13283" y="3392"/>
                <a:ext cx="3746" cy="3013"/>
              </a:xfrm>
              <a:prstGeom prst="rect">
                <a:avLst/>
              </a:prstGeom>
            </p:spPr>
          </p:pic>
        </p:grpSp>
        <p:sp>
          <p:nvSpPr>
            <p:cNvPr id="2" name="文本框 1"/>
            <p:cNvSpPr txBox="1"/>
            <p:nvPr/>
          </p:nvSpPr>
          <p:spPr>
            <a:xfrm>
              <a:off x="9551" y="5269"/>
              <a:ext cx="3488" cy="11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sz="40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中国中铁</a:t>
              </a:r>
              <a:endParaRPr lang="zh-CN" altLang="en-US" sz="4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机电正向设计的三个结构性问题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BACKGROUND · WHY FORWARD DESIGN NEEDS A COMPUTING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04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31673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94B9E5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755648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A4D"/>
                </a:solidFill>
                <a:latin typeface="微软雅黑"/>
              </a:rPr>
              <a:t>口径漂移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103120"/>
            <a:ext cx="22677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同一参数在计算表、说明、图纸里各取一值;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333333"/>
                </a:solidFill>
                <a:latin typeface="微软雅黑"/>
              </a:rPr>
              <a:t>改一处,其它处不同步,审核只能逐格比对。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108960"/>
            <a:ext cx="2267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系数散落在个人表格中,无法追溯来源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18872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1673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94B9E5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55648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A4D"/>
                </a:solidFill>
                <a:latin typeface="微软雅黑"/>
              </a:rPr>
              <a:t>重复录入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2677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模型里已有面积、层高,计算表再抄一遍;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333333"/>
                </a:solidFill>
                <a:latin typeface="微软雅黑"/>
              </a:rPr>
              <a:t>抄错一位小数,负荷与风量全部偏移。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108960"/>
            <a:ext cx="2267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几何信息两个来源,错误不易被发现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3" y="1188720"/>
            <a:ext cx="2651760" cy="23317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1" y="131673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94B9E5"/>
                </a:solidFill>
                <a:latin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1" y="1755648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12A4D"/>
                </a:solidFill>
                <a:latin typeface="微软雅黑"/>
              </a:rPr>
              <a:t>成果割裂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1" y="2103120"/>
            <a:ext cx="22677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</a:rPr>
              <a:t>计算书、材料表、图纸清单各自维护;</a:t>
            </a:r>
          </a:p>
          <a:p>
            <a:pPr algn="l">
              <a:lnSpc>
                <a:spcPct val="135000"/>
              </a:lnSpc>
            </a:pPr>
            <a:r>
              <a:rPr sz="950" b="0">
                <a:solidFill>
                  <a:srgbClr val="333333"/>
                </a:solidFill>
                <a:latin typeface="微软雅黑"/>
              </a:rPr>
              <a:t>一次设计变更要改四处,统计口径未必一致。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1" y="3108960"/>
            <a:ext cx="2267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交付物之间缺少共同的源头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67328"/>
            <a:ext cx="8138160" cy="658368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 w="9525">
            <a:solidFill>
              <a:srgbClr val="4F7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58768"/>
            <a:ext cx="76809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1">
                <a:solidFill>
                  <a:srgbClr val="3B539D"/>
                </a:solidFill>
                <a:latin typeface="微软雅黑"/>
              </a:rPr>
              <a:t>正向设计真正的要求不是「把图画进模型」,而是让 计算—建模—出图—算量 形成闭环: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3B539D"/>
                </a:solidFill>
                <a:latin typeface="微软雅黑"/>
              </a:rPr>
              <a:t>几何来自模型、负荷来自内核、交付物由同一份结果派生 —— 只有一个数据源。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研究目标与五项研究内容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OBJECTIVES · WHAT THE PROJECT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05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3017520" cy="3017520"/>
          </a:xfrm>
          <a:prstGeom prst="roundRect">
            <a:avLst>
              <a:gd name="adj" fmla="val 5000"/>
            </a:avLst>
          </a:prstGeom>
          <a:solidFill>
            <a:srgbClr val="273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606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</a:rPr>
              <a:t>总目标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55648"/>
            <a:ext cx="26060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80" b="0">
                <a:solidFill>
                  <a:srgbClr val="FFFFFF"/>
                </a:solidFill>
                <a:latin typeface="微软雅黑"/>
              </a:rPr>
              <a:t>让设计计算在 BIM 模型上正向发生:口径唯一、结果可核、交付同源。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80" b="0">
                <a:solidFill>
                  <a:srgbClr val="FFFFFF"/>
                </a:solidFill>
                <a:latin typeface="微软雅黑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980" b="0">
                <a:solidFill>
                  <a:srgbClr val="FFFFFF"/>
                </a:solidFill>
                <a:latin typeface="微软雅黑"/>
              </a:rPr>
              <a:t>以地铁通风空调为对象,交付一套运行于 Revit 内的正向设计工具,并以自动化门禁保证口径不漂移。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1188720"/>
            <a:ext cx="4892040" cy="53035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289304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4B9E5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4256" y="1243584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12A4D"/>
                </a:solidFill>
                <a:latin typeface="微软雅黑"/>
              </a:rPr>
              <a:t>计算内核化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4256" y="1453896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两份公式文档逐格迁移为纯计算代码,25 个算例场景、约 870 项断言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773936"/>
            <a:ext cx="4892040" cy="53035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2" y="1874519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4B9E5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1828800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12A4D"/>
                </a:solidFill>
                <a:latin typeface="微软雅黑"/>
              </a:rPr>
              <a:t>模型取值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6" y="2039112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公共区与房间几何从空间读取;两点测量解决模型给不出的长度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49039" y="2359152"/>
            <a:ext cx="4892040" cy="53035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2459736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4B9E5"/>
                </a:solidFill>
                <a:latin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414016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12A4D"/>
                </a:solidFill>
                <a:latin typeface="微软雅黑"/>
              </a:rPr>
              <a:t>成果派生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6" y="2624328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计算书、Excel、材料表、图纸清单由同一份结果与同一份列定义生成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2944368"/>
            <a:ext cx="4892040" cy="53035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13632" y="3044952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4B9E5"/>
                </a:solidFill>
                <a:latin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2999232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12A4D"/>
                </a:solidFill>
                <a:latin typeface="微软雅黑"/>
              </a:rPr>
              <a:t>知识与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4256" y="3209544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口径、条文、操作指南一体化检索;大模型问答与受控工具调用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3529584"/>
            <a:ext cx="4892040" cy="530352"/>
          </a:xfrm>
          <a:prstGeom prst="roundRect">
            <a:avLst>
              <a:gd name="adj" fmla="val 12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13632" y="3630168"/>
            <a:ext cx="3840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4B9E5"/>
                </a:solidFill>
                <a:latin typeface="微软雅黑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358444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12A4D"/>
                </a:solidFill>
                <a:latin typeface="微软雅黑"/>
              </a:rPr>
              <a:t>质量体系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6" y="3794760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数值 / 界面 / 结构三套门禁 + 57 条决策记录 + 文档同步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114800"/>
            <a:ext cx="4892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00" b="0">
                <a:solidFill>
                  <a:srgbClr val="6B7B8C"/>
                </a:solidFill>
                <a:latin typeface="微软雅黑"/>
              </a:rPr>
              <a:t>课题:中铁六院电化院 2023 年院内创新课题 · 承担部门:机电设备所 · 负责人:韩学伟</a:t>
            </a:r>
          </a:p>
          <a:p>
            <a:pPr algn="l">
              <a:lnSpc>
                <a:spcPct val="135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成果形式:研究报告 1 份、软件著作权 1 项、论文 1 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535424"/>
            <a:ext cx="4892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3B539D"/>
                </a:solidFill>
                <a:latin typeface="微软雅黑"/>
              </a:rPr>
              <a:t>工程化:集中开发 47 天、105 次提交,每次提交前三套门禁必须全绿。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技术路线:文档驱动 · 分层实现 · 门禁验证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METHODOLOGY · FOUR STEPS, ONE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06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1847088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1673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4B9E5"/>
                </a:solidFill>
                <a:latin typeface="微软雅黑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0934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A4D"/>
                </a:solidFill>
                <a:latin typeface="微软雅黑"/>
              </a:rPr>
              <a:t>文档驱动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93392"/>
            <a:ext cx="1600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  <a:latin typeface="微软雅黑"/>
              </a:rPr>
              <a:t>公式文档为唯一权威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  <a:latin typeface="微软雅黑"/>
              </a:rPr>
              <a:t>保留单元格代号便于回溯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333333"/>
                </a:solidFill>
                <a:latin typeface="微软雅黑"/>
              </a:rPr>
              <a:t>示例用作逐格断言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04872" y="2084831"/>
            <a:ext cx="256032" cy="201168"/>
          </a:xfrm>
          <a:prstGeom prst="rightArrow">
            <a:avLst/>
          </a:prstGeom>
          <a:solidFill>
            <a:srgbClr val="94B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15768" y="1188720"/>
            <a:ext cx="1847088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31673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4B9E5"/>
                </a:solidFill>
                <a:latin typeface="微软雅黑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60934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A4D"/>
                </a:solidFill>
                <a:latin typeface="微软雅黑"/>
              </a:rPr>
              <a:t>分层实现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993392"/>
            <a:ext cx="1600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  <a:latin typeface="微软雅黑"/>
              </a:rPr>
              <a:t>Core 不引用 Revit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  <a:latin typeface="微软雅黑"/>
              </a:rPr>
              <a:t>UI 只引用 Core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333333"/>
                </a:solidFill>
                <a:latin typeface="微软雅黑"/>
              </a:rPr>
              <a:t>Revit 层只做适配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17720" y="2084831"/>
            <a:ext cx="256032" cy="201168"/>
          </a:xfrm>
          <a:prstGeom prst="rightArrow">
            <a:avLst/>
          </a:prstGeom>
          <a:solidFill>
            <a:srgbClr val="94B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28616" y="1188720"/>
            <a:ext cx="1847088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131673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4B9E5"/>
                </a:solidFill>
                <a:latin typeface="微软雅黑"/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160934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A4D"/>
                </a:solidFill>
                <a:latin typeface="微软雅黑"/>
              </a:rPr>
              <a:t>门禁验证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93207" y="1993392"/>
            <a:ext cx="1600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  <a:latin typeface="微软雅黑"/>
              </a:rPr>
              <a:t>数值 / 界面 / 结构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  <a:latin typeface="微软雅黑"/>
              </a:rPr>
              <a:t>离线可跑、无外部依赖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333333"/>
                </a:solidFill>
                <a:latin typeface="微软雅黑"/>
              </a:rPr>
              <a:t>失败即禁止提交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830568" y="2084831"/>
            <a:ext cx="256032" cy="201168"/>
          </a:xfrm>
          <a:prstGeom prst="rightArrow">
            <a:avLst/>
          </a:prstGeom>
          <a:solidFill>
            <a:srgbClr val="94B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41464" y="1188720"/>
            <a:ext cx="1847088" cy="20116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06055" y="1316736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94B9E5"/>
                </a:solidFill>
                <a:latin typeface="微软雅黑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06055" y="1609344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12A4D"/>
                </a:solidFill>
                <a:latin typeface="微软雅黑"/>
              </a:rPr>
              <a:t>口径登记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5" y="1993392"/>
            <a:ext cx="1600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  <a:latin typeface="微软雅黑"/>
              </a:rPr>
              <a:t>系数集中定义并注明来源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80" b="0">
                <a:solidFill>
                  <a:srgbClr val="333333"/>
                </a:solidFill>
                <a:latin typeface="微软雅黑"/>
              </a:rPr>
              <a:t>冲突按文字实现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333333"/>
                </a:solidFill>
                <a:latin typeface="微软雅黑"/>
              </a:rPr>
              <a:t>57 条决策留痕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364992"/>
            <a:ext cx="3931920" cy="10972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74720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B539D"/>
                </a:solidFill>
                <a:latin typeface="微软雅黑"/>
              </a:rPr>
              <a:t>冲突处理原则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30752"/>
            <a:ext cx="3611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3333"/>
                </a:solidFill>
                <a:latin typeface="微软雅黑"/>
              </a:rPr>
              <a:t>文档文字与文档示例冲突时按文字实现;差异在界面与决策日志中写明,不擅自「凑数」。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364992"/>
            <a:ext cx="3977639" cy="1097280"/>
          </a:xfrm>
          <a:prstGeom prst="roundRect">
            <a:avLst>
              <a:gd name="adj" fmla="val 8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47472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B539D"/>
                </a:solidFill>
                <a:latin typeface="微软雅黑"/>
              </a:rPr>
              <a:t>精度口径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730752"/>
            <a:ext cx="36576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33333"/>
                </a:solidFill>
                <a:latin typeface="微软雅黑"/>
              </a:rPr>
              <a:t>几何参数统一保留 1 位小数且「显示位数即计算位数」;水力逐段尺寸按毫米建模,保持原精度。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系统架构:三层单向依赖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ARCHITECTURE · CORE / UI / REVIT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08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52144"/>
            <a:ext cx="5440680" cy="932688"/>
          </a:xfrm>
          <a:prstGeom prst="roundRect">
            <a:avLst>
              <a:gd name="adj" fmla="val 5000"/>
            </a:avLst>
          </a:prstGeom>
          <a:solidFill>
            <a:srgbClr val="273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5272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HVACIDA.Revit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280160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24 文件 · 3 756 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应用入口与 Ribbon、命令、模型读写、拾取与两点测量、批量出图</a:t>
            </a:r>
          </a:p>
        </p:txBody>
      </p:sp>
      <p:sp>
        <p:nvSpPr>
          <p:cNvPr id="9" name="Down Arrow 8"/>
          <p:cNvSpPr/>
          <p:nvPr/>
        </p:nvSpPr>
        <p:spPr>
          <a:xfrm>
            <a:off x="3035808" y="2103120"/>
            <a:ext cx="201168" cy="146304"/>
          </a:xfrm>
          <a:prstGeom prst="downArrow">
            <a:avLst/>
          </a:prstGeom>
          <a:solidFill>
            <a:srgbClr val="94B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267712"/>
            <a:ext cx="5440680" cy="932688"/>
          </a:xfrm>
          <a:prstGeom prst="roundRect">
            <a:avLst>
              <a:gd name="adj" fmla="val 5000"/>
            </a:avLst>
          </a:prstGeom>
          <a:solidFill>
            <a:srgbClr val="3B53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6829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HVACIDA.UI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39572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41 + 17 文件 · 8 972 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68833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16 个功能窗口 + 1 个复用结果控件、视图模型、转换器、列生成器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035808" y="3218688"/>
            <a:ext cx="201168" cy="146304"/>
          </a:xfrm>
          <a:prstGeom prst="downArrow">
            <a:avLst/>
          </a:prstGeom>
          <a:solidFill>
            <a:srgbClr val="94B9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383280"/>
            <a:ext cx="5440680" cy="932688"/>
          </a:xfrm>
          <a:prstGeom prst="roundRect">
            <a:avLst>
              <a:gd name="adj" fmla="val 5000"/>
            </a:avLst>
          </a:prstGeom>
          <a:solidFill>
            <a:srgbClr val="4F7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48386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HVACIDA.Core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511296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72 文件 · 12 974 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80390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FFFFFF"/>
                </a:solidFill>
                <a:latin typeface="微软雅黑"/>
              </a:rPr>
              <a:t>50 个服务:计算内核、结果表、知识库、持久化、XLSX 写入、AI 客户端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152144"/>
            <a:ext cx="2514600" cy="3145536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8016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B539D"/>
                </a:solidFill>
                <a:latin typeface="微软雅黑"/>
              </a:rPr>
              <a:t>分层带来的可测试性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09344"/>
            <a:ext cx="2176272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计算内核脱离 Revit 运行,构建机上可跑全部数值断言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界面可在无模型环境下装载自检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Revit 层只剩「取数」与「呈现」两类适配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同一输入两次运行结果一致,无随机与时间依赖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43984"/>
            <a:ext cx="5440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3B539D"/>
                </a:solidFill>
                <a:latin typeface="微软雅黑"/>
              </a:rPr>
              <a:t>依赖方向:Revit → UI → Core,Core 不引用任何 Revit 程序集。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功能架构:7 个面板 · 24 个模块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FUNCTION MAP · RIBBON AS SINGLE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09 /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8138158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13816"/>
                <a:gridCol w="651052"/>
                <a:gridCol w="3743553"/>
                <a:gridCol w="292973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面板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模块数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主要功能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关键输出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项目信息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工程信息、气象参数(294 台站)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project.xml · 气象联动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大系统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公共区参数、负荷计算、排烟计算、计算结果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分区负荷 / 风量 / 选型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小系统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六类系统计算 + 全站汇总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逐房间明细 · 设备选型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水力计算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风系统、水系统、汇总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总压损 · 扬程 · 不平衡率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出图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材料表与图例表、图框与批量出图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11 类构件统计 · 导出记录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AI问答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操作指南、规范知识库、AI 对话、AI 助手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检索增强问答 · 工具调用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产品支持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问题反馈、帮助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模块目录与口径说明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24528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B8C"/>
                </a:solidFill>
                <a:latin typeface="微软雅黑"/>
              </a:rPr>
              <a:t>模块目录为单一数据源:Ribbon 按钮、图标、命令映射、帮助说明均由其派生,新增模块只需登记一次,门禁自动校验一致性。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计算内核:公式文档的可执行化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COMPUTING CORE · CELL-BY-CELL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10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920240" cy="85953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" y="1298448"/>
            <a:ext cx="50292" cy="603503"/>
          </a:xfrm>
          <a:prstGeom prst="roundRect">
            <a:avLst/>
          </a:prstGeom>
          <a:solidFill>
            <a:srgbClr val="4F7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539D"/>
                </a:solidFill>
                <a:latin typeface="微软雅黑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8292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7B8C"/>
                </a:solidFill>
                <a:latin typeface="微软雅黑"/>
              </a:rPr>
              <a:t>个算例场景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1170432"/>
            <a:ext cx="1920240" cy="85953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96896" y="1298448"/>
            <a:ext cx="50292" cy="603503"/>
          </a:xfrm>
          <a:prstGeom prst="roundRect">
            <a:avLst/>
          </a:prstGeom>
          <a:solidFill>
            <a:srgbClr val="4F7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234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539D"/>
                </a:solidFill>
                <a:latin typeface="微软雅黑"/>
              </a:rPr>
              <a:t>870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158292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7B8C"/>
                </a:solidFill>
                <a:latin typeface="微软雅黑"/>
              </a:rPr>
              <a:t>项断言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1170432"/>
            <a:ext cx="1920240" cy="85953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2583" y="1298448"/>
            <a:ext cx="50292" cy="603503"/>
          </a:xfrm>
          <a:prstGeom prst="roundRect">
            <a:avLst/>
          </a:prstGeom>
          <a:solidFill>
            <a:srgbClr val="4F7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1234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539D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58292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7B8C"/>
                </a:solidFill>
                <a:latin typeface="微软雅黑"/>
              </a:rPr>
              <a:t>项逐格校验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9984" y="1170432"/>
            <a:ext cx="1920240" cy="85953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48272" y="1298448"/>
            <a:ext cx="50292" cy="603503"/>
          </a:xfrm>
          <a:prstGeom prst="roundRect">
            <a:avLst/>
          </a:prstGeom>
          <a:solidFill>
            <a:srgbClr val="4F7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1234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539D"/>
                </a:solidFill>
                <a:latin typeface="微软雅黑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158292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7B8C"/>
                </a:solidFill>
                <a:latin typeface="微软雅黑"/>
              </a:rPr>
              <a:t>类小系统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212848"/>
          <a:ext cx="8138159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7632"/>
                <a:gridCol w="1627632"/>
                <a:gridCol w="3743553"/>
                <a:gridCol w="113934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系统类型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示例规模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复算关键值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结论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全空气一次回风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21 间 / 590.76 m²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冷负荷 104.42 kW · 送风 32 539 m³/h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一致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多联机+新风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11 间 / 187.01 m²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21.57 kW · 湿负荷 1.733 g/s · 热湿比 12 448.6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一致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排风 / 排烟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8 间 / 2 分区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5 386 m³/h · 34 620 与 20 772 m³/h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一致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送风排风排烟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5 间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排风 20 307 · 送风 31 020 · 排烟 18 612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一致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02920" y="3913632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口径纪律:单元格代号只留在代码注释;交付文案不出现代号(门禁扫描);文档示例与文字冲突时按文字实现并留痕。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边界保护:零面积、零人数、室内温度不高于过渡季温度、文件损坏、网络中断均有断言,不抛异常、不出负数。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模型信息获取与联动:让模型成为第一数据源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MODEL LINK · SPACE, PICK, TWO-POINT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11 /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8138158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02105"/>
                <a:gridCol w="1953158"/>
                <a:gridCol w="1464868"/>
                <a:gridCol w="3418027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方式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数据来源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口径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适用与局限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空间属性读取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空间面积、层高、体积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保留 1 位小数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房间与公共区几何;依赖空间已放置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交互拾取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多选空间快照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同名去重,自动建行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批量建房间表;需在模型中操作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两点测量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两次点选坐标求距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英尺→米,保留 1 位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外墙长度;需有效工作平面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手工录入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用户直接填写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按录入精度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无模型或模型不完整的场景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054096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163824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B539D"/>
                </a:solidFill>
                <a:latin typeface="微软雅黑"/>
              </a:rPr>
              <a:t>开窗即同步(选项 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38144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880">
                <a:solidFill>
                  <a:srgbClr val="4F78C9"/>
                </a:solidFill>
                <a:latin typeface="微软雅黑"/>
              </a:rPr>
              <a:t>▪ </a:t>
            </a:r>
            <a:r>
              <a:rPr sz="880">
                <a:solidFill>
                  <a:srgbClr val="333333"/>
                </a:solidFill>
                <a:latin typeface="微软雅黑"/>
              </a:rPr>
              <a:t>按来源空间标识重读面积 / 层高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880">
                <a:solidFill>
                  <a:srgbClr val="4F78C9"/>
                </a:solidFill>
                <a:latin typeface="微软雅黑"/>
              </a:rPr>
              <a:t>▪ </a:t>
            </a:r>
            <a:r>
              <a:rPr sz="880">
                <a:solidFill>
                  <a:srgbClr val="333333"/>
                </a:solidFill>
                <a:latin typeface="微软雅黑"/>
              </a:rPr>
              <a:t>屋顶面积仅在等于旧面积时跟随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880">
                <a:solidFill>
                  <a:srgbClr val="4F78C9"/>
                </a:solidFill>
                <a:latin typeface="微软雅黑"/>
              </a:rPr>
              <a:t>▪ </a:t>
            </a:r>
            <a:r>
              <a:rPr sz="880">
                <a:solidFill>
                  <a:srgbClr val="333333"/>
                </a:solidFill>
                <a:latin typeface="微软雅黑"/>
              </a:rPr>
              <a:t>空间被删 → 保留原值并点名,绝不写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3054096"/>
            <a:ext cx="3977639" cy="1417320"/>
          </a:xfrm>
          <a:prstGeom prst="roundRect">
            <a:avLst>
              <a:gd name="adj" fmla="val 60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3163824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B539D"/>
                </a:solidFill>
                <a:latin typeface="微软雅黑"/>
              </a:rPr>
              <a:t>如实记录的边界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438144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880">
                <a:solidFill>
                  <a:srgbClr val="4F78C9"/>
                </a:solidFill>
                <a:latin typeface="微软雅黑"/>
              </a:rPr>
              <a:t>▪ </a:t>
            </a:r>
            <a:r>
              <a:rPr sz="880">
                <a:solidFill>
                  <a:srgbClr val="333333"/>
                </a:solidFill>
                <a:latin typeface="微软雅黑"/>
              </a:rPr>
              <a:t>不做双向实时联动,模型改动需重开窗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880">
                <a:solidFill>
                  <a:srgbClr val="4F78C9"/>
                </a:solidFill>
                <a:latin typeface="微软雅黑"/>
              </a:rPr>
              <a:t>▪ </a:t>
            </a:r>
            <a:r>
              <a:rPr sz="880">
                <a:solidFill>
                  <a:srgbClr val="333333"/>
                </a:solidFill>
                <a:latin typeface="微软雅黑"/>
              </a:rPr>
              <a:t>链接模型中的空间无法按标识重读</a:t>
            </a:r>
          </a:p>
          <a:p>
            <a:pPr>
              <a:lnSpc>
                <a:spcPct val="120000"/>
              </a:lnSpc>
              <a:spcAft>
                <a:spcPts val="300"/>
              </a:spcAft>
            </a:pPr>
            <a:r>
              <a:rPr sz="880">
                <a:solidFill>
                  <a:srgbClr val="4F78C9"/>
                </a:solidFill>
                <a:latin typeface="微软雅黑"/>
              </a:rPr>
              <a:t>▪ </a:t>
            </a:r>
            <a:r>
              <a:rPr sz="880">
                <a:solidFill>
                  <a:srgbClr val="333333"/>
                </a:solidFill>
                <a:latin typeface="微软雅黑"/>
              </a:rPr>
              <a:t>外墙长度写入选中行,故选中行必须可靠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成果派生:一份结果,多处一致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DELIVERABLES · ONE SOURCE, MANY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12 /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8138159" cy="19568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4868"/>
                <a:gridCol w="3418027"/>
                <a:gridCol w="325526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交付物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生成方式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</a:rPr>
                        <a:t>特点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窗口结果表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结果对象绑定,列定义来自 Core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界面不自行拼装数据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文本计算书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结果格式化器固定版式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含口径说明与待补项,可直接归档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Excel 计算书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自写最小 XLSX 写入器(零依赖)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4 页:结果 / 明细 / 设备 / 口径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材料表与图例表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读模型 11 类构件后按类别规格归并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归并键含单位,混合单位不相加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图纸清单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读图框统计 + 批量导出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>
                          <a:solidFill>
                            <a:srgbClr val="333333"/>
                          </a:solidFill>
                          <a:latin typeface="微软雅黑"/>
                        </a:rPr>
                        <a:t>记录成功与失败原因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218688"/>
            <a:ext cx="8138160" cy="1225296"/>
          </a:xfrm>
          <a:prstGeom prst="roundRect">
            <a:avLst>
              <a:gd name="adj" fmla="val 6000"/>
            </a:avLst>
          </a:prstGeom>
          <a:solidFill>
            <a:srgbClr val="273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28416"/>
            <a:ext cx="7680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同源带来的三个直接结果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39312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19" b="0">
                <a:solidFill>
                  <a:srgbClr val="FFFFFF"/>
                </a:solidFill>
                <a:latin typeface="微软雅黑"/>
              </a:rPr>
              <a:t>① 一次输入变更,结果表、计算书、Excel 同时更新,不再分别维护;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919" b="0">
                <a:solidFill>
                  <a:srgbClr val="FFFFFF"/>
                </a:solidFill>
                <a:latin typeface="微软雅黑"/>
              </a:rPr>
              <a:t>② 审核可按「结果—公式—系数—文档」回溯,不必猜测表格结构;</a:t>
            </a:r>
          </a:p>
          <a:p>
            <a:pPr algn="l">
              <a:lnSpc>
                <a:spcPct val="135000"/>
              </a:lnSpc>
            </a:pPr>
            <a:r>
              <a:rPr sz="919" b="0">
                <a:solidFill>
                  <a:srgbClr val="FFFFFF"/>
                </a:solidFill>
                <a:latin typeface="微软雅黑"/>
              </a:rPr>
              <a:t>③ 材料表与图例表共用同一份统计,永远不会互相矛盾。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规范知识与 AI 辅助:能力之外先讲边界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KNOWLEDGE &amp; AI · CONTROLLED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13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12A4D"/>
                </a:solidFill>
                <a:latin typeface="微软雅黑"/>
              </a:rPr>
              <a:t>三类知识一体化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>
                <a:solidFill>
                  <a:srgbClr val="333333"/>
                </a:solidFill>
                <a:latin typeface="微软雅黑"/>
              </a:rPr>
              <a:t>本项目口径 · 规范条文 · Revit 操作指南,同一检索入口;答不出时明说覆盖范围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04288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12A4D"/>
                </a:solidFill>
                <a:latin typeface="微软雅黑"/>
              </a:rPr>
              <a:t>条文电子版导入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>
                <a:solidFill>
                  <a:srgbClr val="333333"/>
                </a:solidFill>
                <a:latin typeface="微软雅黑"/>
              </a:rPr>
              <a:t>txt / md / csv / docx 解析,识别条文号,幂等导入,中段关键词可搜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18688"/>
            <a:ext cx="3977639" cy="896112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328416"/>
            <a:ext cx="3611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12A4D"/>
                </a:solidFill>
                <a:latin typeface="微软雅黑"/>
              </a:rPr>
              <a:t>检索增强问答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8444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80" b="0">
                <a:solidFill>
                  <a:srgbClr val="333333"/>
                </a:solidFill>
                <a:latin typeface="微软雅黑"/>
              </a:rPr>
              <a:t>先检索知识库再生成回答,提示词只带条文不带工程数据,错误码分级提示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170432"/>
            <a:ext cx="3977639" cy="2962656"/>
          </a:xfrm>
          <a:prstGeom prst="roundRect">
            <a:avLst>
              <a:gd name="adj" fmla="val 5000"/>
            </a:avLst>
          </a:prstGeom>
          <a:solidFill>
            <a:srgbClr val="2736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8" y="12984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/>
              </a:rPr>
              <a:t>AI 的边界(六条)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1627632"/>
            <a:ext cx="3611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微软雅黑"/>
              </a:rPr>
              <a:t>· 两级开关,默认关闭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048256"/>
            <a:ext cx="3611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微软雅黑"/>
              </a:rPr>
              <a:t>· 命令白名单 + 逐条确认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468880"/>
            <a:ext cx="3611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微软雅黑"/>
              </a:rPr>
              <a:t>· 单次 ≤ 200 个构件、单事务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2889504"/>
            <a:ext cx="3611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微软雅黑"/>
              </a:rPr>
              <a:t>· 数值参数一律不写回模型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310128"/>
            <a:ext cx="3611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微软雅黑"/>
              </a:rPr>
              <a:t>· 密钥加密存储,提示词不含工程数据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3730752"/>
            <a:ext cx="3611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FFFFFF"/>
                </a:solidFill>
                <a:latin typeface="微软雅黑"/>
              </a:rPr>
              <a:t>· 边界写成门禁断言,「安全」可回归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261104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B8C"/>
                </a:solidFill>
                <a:latin typeface="微软雅黑"/>
              </a:rPr>
              <a:t>问答解决「查得到」,计算内核解决「算得对」。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自动化门禁:三套检查,离线可跑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QUALITY GATES · NO REVIT, NO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15 /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8138158" cy="1737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39342"/>
                <a:gridCol w="4394606"/>
                <a:gridCol w="1139342"/>
                <a:gridCol w="1464868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门禁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检查内容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规模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失败含义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核心算例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25 个场景:算例回归、逐格复算、气象联动、水力、材料表、出图、知识库、AI 客户端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约 870 项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数值或业务规则不符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窗口装载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17 个界面构建、绑定完整性、按钮语义、参考表列数与可编辑性、转换器、选中行传递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193 项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界面不可用或行为回退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Ribbon 结构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面板与按钮数量、命令映射、图标存在性、模块目录一致性、空间类型写法扫描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结构 + 扫描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入口缺失或目录与实现不一致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127248"/>
            <a:ext cx="8138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919">
                <a:solidFill>
                  <a:srgbClr val="4F78C9"/>
                </a:solidFill>
                <a:latin typeface="微软雅黑"/>
              </a:rPr>
              <a:t>▪ </a:t>
            </a:r>
            <a:r>
              <a:rPr sz="919">
                <a:solidFill>
                  <a:srgbClr val="333333"/>
                </a:solidFill>
                <a:latin typeface="微软雅黑"/>
              </a:rPr>
              <a:t>可离线:控制台程序 + PowerShell 脚本,不需要 Revit 参与,也不需要人工点击;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919">
                <a:solidFill>
                  <a:srgbClr val="4F78C9"/>
                </a:solidFill>
                <a:latin typeface="微软雅黑"/>
              </a:rPr>
              <a:t>▪ </a:t>
            </a:r>
            <a:r>
              <a:rPr sz="919">
                <a:solidFill>
                  <a:srgbClr val="333333"/>
                </a:solidFill>
                <a:latin typeface="微软雅黑"/>
              </a:rPr>
              <a:t>可读:失败输出断言名、期望值与实际值,直接指向问题;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919">
                <a:solidFill>
                  <a:srgbClr val="4F78C9"/>
                </a:solidFill>
                <a:latin typeface="微软雅黑"/>
              </a:rPr>
              <a:t>▪ </a:t>
            </a:r>
            <a:r>
              <a:rPr sz="919">
                <a:solidFill>
                  <a:srgbClr val="333333"/>
                </a:solidFill>
                <a:latin typeface="微软雅黑"/>
              </a:rPr>
              <a:t>强制:提交前必须全绿,历史缺陷一旦复发会被立即拦住(如空间类型写法、交付文案出现单元格编号);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919">
                <a:solidFill>
                  <a:srgbClr val="4F78C9"/>
                </a:solidFill>
                <a:latin typeface="微软雅黑"/>
              </a:rPr>
              <a:t>▪ </a:t>
            </a:r>
            <a:r>
              <a:rPr sz="919">
                <a:solidFill>
                  <a:srgbClr val="333333"/>
                </a:solidFill>
                <a:latin typeface="微软雅黑"/>
              </a:rPr>
              <a:t>回归:47 天 105 次提交,口径始终稳定,没有出现「越改越乱」。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典型缺陷复盘:根因,而不是表象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LESSONS · SIX DEFECTS AND WHAT THEY TAUGHT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16 /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70432"/>
          <a:ext cx="8138159" cy="27249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53158"/>
                <a:gridCol w="3255264"/>
                <a:gridCol w="2929737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现象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根因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FFFFFF"/>
                          </a:solidFill>
                          <a:latin typeface="微软雅黑"/>
                        </a:rPr>
                        <a:t>处置与门禁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打开参数窗报参数异常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以 Space 直接做集合筛选,该类型不在原生对象模型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改按 SpatialElement 收集再转换;静态扫描禁止回归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删除的系统重开又出现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保存只做增量更新,从不删除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改为按类型整体替换,窗口状态权威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添加行后界面不刷新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参考表绑定合并行,只改了输入集合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订阅集合变化并重建合并行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测量结果总写入第一行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参考表未绑定选中项,默认选中第一行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合并行暴露底层对象,双向同步、忽略空值推送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面积长度仍显示两位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只改了结果表,录入列仍是裸绑定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数值转换器 + 失焦回写,显示即计算精度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合计行回风量恒为零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该字段从未赋值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>
                          <a:solidFill>
                            <a:srgbClr val="333333"/>
                          </a:solidFill>
                          <a:latin typeface="微软雅黑"/>
                        </a:rPr>
                        <a:t>按送风乘新风比折算,与全空气口径统一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224528"/>
            <a:ext cx="81381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7B8C"/>
                </a:solidFill>
                <a:latin typeface="微软雅黑"/>
              </a:rPr>
              <a:t>共同规律:缺陷几乎都出在「界面与领域对象的映射」与「保存语义」上;修复一律先定位根因,再补门禁断言,最后更新文档。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项目数据:代码、门禁与决策的规模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PROJECT DATA · CODE, TESTS,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17 /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920240" cy="85953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21208" y="1298448"/>
            <a:ext cx="50292" cy="603503"/>
          </a:xfrm>
          <a:prstGeom prst="roundRect">
            <a:avLst/>
          </a:prstGeom>
          <a:solidFill>
            <a:srgbClr val="4F7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539D"/>
                </a:solidFill>
                <a:latin typeface="微软雅黑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8292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7B8C"/>
                </a:solidFill>
                <a:latin typeface="微软雅黑"/>
              </a:rPr>
              <a:t>次提交(集中开发期)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8608" y="1170432"/>
            <a:ext cx="1920240" cy="85953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96896" y="1298448"/>
            <a:ext cx="50292" cy="603503"/>
          </a:xfrm>
          <a:prstGeom prst="roundRect">
            <a:avLst/>
          </a:prstGeom>
          <a:solidFill>
            <a:srgbClr val="4F7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1234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539D"/>
                </a:solidFill>
                <a:latin typeface="微软雅黑"/>
              </a:rPr>
              <a:t>23 121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158292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7B8C"/>
                </a:solidFill>
                <a:latin typeface="微软雅黑"/>
              </a:rPr>
              <a:t>行 C# 代码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4296" y="1170432"/>
            <a:ext cx="1920240" cy="85953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2583" y="1298448"/>
            <a:ext cx="50292" cy="603503"/>
          </a:xfrm>
          <a:prstGeom prst="roundRect">
            <a:avLst/>
          </a:prstGeom>
          <a:solidFill>
            <a:srgbClr val="4F7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1234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539D"/>
                </a:solidFill>
                <a:latin typeface="微软雅黑"/>
              </a:rPr>
              <a:t>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158292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7B8C"/>
                </a:solidFill>
                <a:latin typeface="微软雅黑"/>
              </a:rPr>
              <a:t>个功能模块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9984" y="1170432"/>
            <a:ext cx="1920240" cy="859536"/>
          </a:xfrm>
          <a:prstGeom prst="roundRect">
            <a:avLst>
              <a:gd name="adj" fmla="val 8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48272" y="1298448"/>
            <a:ext cx="50292" cy="603503"/>
          </a:xfrm>
          <a:prstGeom prst="roundRect">
            <a:avLst/>
          </a:prstGeom>
          <a:solidFill>
            <a:srgbClr val="4F7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2864" y="1234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3B539D"/>
                </a:solidFill>
                <a:latin typeface="微软雅黑"/>
              </a:rPr>
              <a:t>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1582928"/>
            <a:ext cx="168249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6B7B8C"/>
                </a:solidFill>
                <a:latin typeface="微软雅黑"/>
              </a:rPr>
              <a:t>条决策记录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02920" y="2194560"/>
          <a:ext cx="4937760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623560" y="2194560"/>
            <a:ext cx="3017520" cy="2240280"/>
          </a:xfrm>
          <a:prstGeom prst="roundRect">
            <a:avLst>
              <a:gd name="adj" fmla="val 6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2304288"/>
            <a:ext cx="2697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B539D"/>
                </a:solidFill>
                <a:latin typeface="微软雅黑"/>
              </a:rPr>
              <a:t>规模之外的三件事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2596896"/>
            <a:ext cx="265176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约 1 100 项门禁断言,全部离线可跑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48 个图标由内置工具批量生成</a:t>
            </a:r>
          </a:p>
          <a:p>
            <a:pPr>
              <a:lnSpc>
                <a:spcPct val="125000"/>
              </a:lnSpc>
              <a:spcAft>
                <a:spcPts val="500"/>
              </a:spcAft>
            </a:pPr>
            <a:r>
              <a:rPr sz="900">
                <a:solidFill>
                  <a:srgbClr val="4F78C9"/>
                </a:solidFill>
                <a:latin typeface="微软雅黑"/>
              </a:rPr>
              <a:t>▪ </a:t>
            </a:r>
            <a:r>
              <a:rPr sz="900">
                <a:solidFill>
                  <a:srgbClr val="333333"/>
                </a:solidFill>
                <a:latin typeface="微软雅黑"/>
              </a:rPr>
              <a:t>7 份文档与决策日志同步维护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结论与创新点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CONCLUSIONS · FOUR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19 /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52144"/>
            <a:ext cx="3931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B539D"/>
                </a:solidFill>
                <a:latin typeface="微软雅黑"/>
              </a:rPr>
              <a:t>五条结论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4B9E5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1463040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333333"/>
                </a:solidFill>
                <a:latin typeface="微软雅黑"/>
              </a:rPr>
              <a:t>把公式文档迁移为可执行内核并逐格断言,是保证专业计算正确性的有效方法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57984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4B9E5"/>
                </a:solidFill>
                <a:latin typeface="微软雅黑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139696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333333"/>
                </a:solidFill>
                <a:latin typeface="微软雅黑"/>
              </a:rPr>
              <a:t>模型可作为几何第一来源,但要区分「模型给得出」「需交互指定」「模型给不出」三类数据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4B9E5"/>
                </a:solidFill>
                <a:latin typeface="微软雅黑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16352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333333"/>
                </a:solidFill>
                <a:latin typeface="微软雅黑"/>
              </a:rPr>
              <a:t>成果派生必须同源,才能从结构上消除口径分叉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918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4B9E5"/>
                </a:solidFill>
                <a:latin typeface="微软雅黑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273552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333333"/>
                </a:solidFill>
                <a:latin typeface="微软雅黑"/>
              </a:rPr>
              <a:t>AI 落地的关键不是模型能力,而是默认关闭、逐条确认、只读优先、可回滚的流程约束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68496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4B9E5"/>
                </a:solidFill>
                <a:latin typeface="微软雅黑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50208"/>
            <a:ext cx="3611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333333"/>
                </a:solidFill>
                <a:latin typeface="微软雅黑"/>
              </a:rPr>
              <a:t>门禁 + 决策日志 + 文档同步,是一轮集中开发中保持口径稳定的可行实践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152144"/>
            <a:ext cx="3977639" cy="3310128"/>
          </a:xfrm>
          <a:prstGeom prst="roundRect">
            <a:avLst>
              <a:gd name="adj" fmla="val 50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1280160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B539D"/>
                </a:solidFill>
                <a:latin typeface="微软雅黑"/>
              </a:rPr>
              <a:t>四个创新点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1609344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12A4D"/>
                </a:solidFill>
                <a:latin typeface="微软雅黑"/>
              </a:rPr>
              <a:t>口径可执行、可追溯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1828800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文档单元格—注释—界面提示—决策记录四者打通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2249424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12A4D"/>
                </a:solidFill>
                <a:latin typeface="微软雅黑"/>
              </a:rPr>
              <a:t>三套门禁的回归体系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468880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数值、界面、结构三层独立检查,均离线可跑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889504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12A4D"/>
                </a:solidFill>
                <a:latin typeface="微软雅黑"/>
              </a:rPr>
              <a:t>拾取与编辑一致性闭环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108960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关窗—拾取—同视图模型重开;合并行双向选中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3529584"/>
            <a:ext cx="3611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12A4D"/>
                </a:solidFill>
                <a:latin typeface="微软雅黑"/>
              </a:rPr>
              <a:t>面向工程可信的 AI 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3749040"/>
            <a:ext cx="36118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6B7B8C"/>
                </a:solidFill>
                <a:latin typeface="微软雅黑"/>
              </a:rPr>
              <a:t>开关、白名单、数量上限、单事务、不写数值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212A4D"/>
                </a:solidFill>
                <a:latin typeface="微软雅黑"/>
              </a:rPr>
              <a:t>局限与后续工作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7589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B8C"/>
                </a:solidFill>
                <a:latin typeface="微软雅黑"/>
              </a:rPr>
              <a:t>LIMITS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0" y="4786884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FFFFFF"/>
                </a:solidFill>
                <a:latin typeface="微软雅黑"/>
              </a:rPr>
              <a:t>20 / 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33856"/>
          <a:ext cx="8138158" cy="25968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8684"/>
                <a:gridCol w="2766974"/>
                <a:gridCol w="309250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微软雅黑"/>
                        </a:rPr>
                        <a:t>当前局限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微软雅黑"/>
                        </a:rPr>
                        <a:t>影响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FFFFFF"/>
                          </a:solidFill>
                          <a:latin typeface="微软雅黑"/>
                        </a:rPr>
                        <a:t>后续方向</a:t>
                      </a:r>
                    </a:p>
                  </a:txBody>
                  <a:tcPr marL="45720" marR="45720" marT="13716" marB="13716" anchor="ctr">
                    <a:solidFill>
                      <a:srgbClr val="27367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防烟分区几何未接入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大系统排烟按整体取量,结果偏大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接入分区面积、挡烟垂壁与储烟仓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链接模型空间不能按标识重读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链接模型下开窗同步不生效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引入稳定标识映射,评估增量刷新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同步为单向且需重开窗口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模型改动不会即时反映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事件驱动的增量同步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消火栓水力与参数化构件未实装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立项书所列消防水力、构件级信息联动未覆盖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按假定流速法扩展至消防系统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AI 不写数值、不批量改模型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无法完成批量改参数类任务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确认与回滚机制成熟后逐步放开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仅在 Revit 2020 验证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高版本 API 差异未覆盖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收敛版本适配层,分版本门禁</a:t>
                      </a:r>
                    </a:p>
                  </a:txBody>
                  <a:tcPr marL="45720" marR="45720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未实现 IFC 与多专业协同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跨专业数据交换需另行处理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>
                          <a:solidFill>
                            <a:srgbClr val="333333"/>
                          </a:solidFill>
                          <a:latin typeface="微软雅黑"/>
                        </a:rPr>
                        <a:t>评估 IFC 导出与模型检查</a:t>
                      </a:r>
                    </a:p>
                  </a:txBody>
                  <a:tcPr marL="45720" marR="45720" marT="13716" marB="13716" anchor="ctr"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3840480"/>
            <a:ext cx="8138160" cy="475488"/>
          </a:xfrm>
          <a:prstGeom prst="roundRect">
            <a:avLst>
              <a:gd name="adj" fmla="val 10000"/>
            </a:avLst>
          </a:prstGeom>
          <a:solidFill>
            <a:srgbClr val="F7FAFD"/>
          </a:solidFill>
          <a:ln w="9525">
            <a:solidFill>
              <a:srgbClr val="4F78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B539D"/>
                </a:solidFill>
                <a:latin typeface="微软雅黑"/>
              </a:rPr>
              <a:t>下一步最优先:防烟分区几何 + 稳定标识的模型联动 + 设备样本库,三者直接决定结果精度与使用体验。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7436,&quot;width&quot;:19200}"/>
</p:tagLst>
</file>

<file path=ppt/tags/tag2.xml><?xml version="1.0" encoding="utf-8"?>
<p:tagLst xmlns:p="http://schemas.openxmlformats.org/presentationml/2006/main">
  <p:tag name="KSO_WM_UNIT_PLACING_PICTURE_USER_VIEWPORT" val="{&quot;height&quot;:2719,&quot;width&quot;:2719}"/>
</p:tagLst>
</file>

<file path=ppt/tags/tag3.xml><?xml version="1.0" encoding="utf-8"?>
<p:tagLst xmlns:p="http://schemas.openxmlformats.org/presentationml/2006/main">
  <p:tag name="KSO_WM_UNIT_PLACING_PICTURE_USER_VIEWPORT" val="{&quot;height&quot;:7436,&quot;width&quot;:19200}"/>
</p:tagLst>
</file>

<file path=ppt/tags/tag4.xml><?xml version="1.0" encoding="utf-8"?>
<p:tagLst xmlns:p="http://schemas.openxmlformats.org/presentationml/2006/main">
  <p:tag name="KSO_WM_UNIT_PLACING_PICTURE_USER_VIEWPORT" val="{&quot;height&quot;:2719,&quot;width&quot;:2719}"/>
</p:tagLst>
</file>

<file path=ppt/tags/tag5.xml><?xml version="1.0" encoding="utf-8"?>
<p:tagLst xmlns:p="http://schemas.openxmlformats.org/presentationml/2006/main">
  <p:tag name="KSO_WM_UNIT_PLACING_PICTURE_USER_VIEWPORT" val="{&quot;height&quot;:7436,&quot;width&quot;:19200}"/>
</p:tagLst>
</file>

<file path=ppt/tags/tag6.xml><?xml version="1.0" encoding="utf-8"?>
<p:tagLst xmlns:p="http://schemas.openxmlformats.org/presentationml/2006/main">
  <p:tag name="KSO_WM_UNIT_PLACING_PICTURE_USER_VIEWPORT" val="{&quot;height&quot;:2719,&quot;width&quot;:2719}"/>
</p:tagLst>
</file>

<file path=ppt/theme/theme1.xml><?xml version="1.0" encoding="utf-8"?>
<a:theme xmlns:a="http://schemas.openxmlformats.org/drawingml/2006/main" name="Office 主题​​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水天一色">
      <a:dk1>
        <a:srgbClr val="000000"/>
      </a:dk1>
      <a:lt1>
        <a:srgbClr val="FFFFFF"/>
      </a:lt1>
      <a:dk2>
        <a:srgbClr val="D0D9E8"/>
      </a:dk2>
      <a:lt2>
        <a:srgbClr val="B6CDE8"/>
      </a:lt2>
      <a:accent1>
        <a:srgbClr val="94B9E5"/>
      </a:accent1>
      <a:accent2>
        <a:srgbClr val="6C99DA"/>
      </a:accent2>
      <a:accent3>
        <a:srgbClr val="4F78C9"/>
      </a:accent3>
      <a:accent4>
        <a:srgbClr val="3B539D"/>
      </a:accent4>
      <a:accent5>
        <a:srgbClr val="273677"/>
      </a:accent5>
      <a:accent6>
        <a:srgbClr val="212A4D"/>
      </a:accent6>
      <a:hlink>
        <a:srgbClr val="866054"/>
      </a:hlink>
      <a:folHlink>
        <a:srgbClr val="422F28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3035</Words>
  <Application>WPS 演示</Application>
  <PresentationFormat>宽屏</PresentationFormat>
  <Paragraphs>242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Impact</vt:lpstr>
      <vt:lpstr>Century Gothic</vt:lpstr>
      <vt:lpstr>汉仪细中圆简</vt:lpstr>
      <vt:lpstr>OPPOSans R</vt:lpstr>
      <vt:lpstr>Calibri</vt:lpstr>
      <vt:lpstr>Calibri</vt:lpstr>
      <vt:lpstr>微软雅黑 Light</vt:lpstr>
      <vt:lpstr>Arial</vt:lpstr>
      <vt:lpstr>等线</vt:lpstr>
      <vt:lpstr>Arial Unicode MS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yashu wei</dc:creator>
  <cp:lastModifiedBy>joker_xjc</cp:lastModifiedBy>
  <cp:revision>72</cp:revision>
  <dcterms:created xsi:type="dcterms:W3CDTF">2021-04-25T09:06:00Z</dcterms:created>
  <dcterms:modified xsi:type="dcterms:W3CDTF">2021-08-12T09:28:40Z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295AE37CADCC4C29AB7FE1389A5D0BB1</vt:lpwstr>
  </property>
  <property fmtid="{D5CDD505-2E9C-101B-9397-08002B2CF9AE}" pid="3" name="KSOProductBuildVer">
    <vt:lpwstr>2052-11.1.0.10667</vt:lpwstr>
  </property>
</Properties>
</file>